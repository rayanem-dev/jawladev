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82296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2834640"/>
            <a:ext cx="996696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300"/>
              </a:spcAft>
            </a:pPr>
            <a:r>
              <a:rPr sz="6600" b="1">
                <a:solidFill>
                  <a:srgbClr val="1E5AA8"/>
                </a:solidFill>
                <a:latin typeface="Arial"/>
              </a:rPr>
              <a:t>Pompa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977639"/>
            <a:ext cx="99669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1400"/>
              </a:spcAft>
            </a:pPr>
            <a:r>
              <a:rPr sz="2800" b="1">
                <a:solidFill>
                  <a:srgbClr val="F58220"/>
                </a:solidFill>
                <a:latin typeface="Arial"/>
              </a:rPr>
              <a:t>Every litre counted. Every dinar accounted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4800600"/>
            <a:ext cx="90525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1000"/>
              </a:spcAft>
            </a:pPr>
            <a:r>
              <a:rPr sz="2000" b="0">
                <a:solidFill>
                  <a:srgbClr val="5F7189"/>
                </a:solidFill>
                <a:latin typeface="Arial"/>
              </a:rPr>
              <a:t>Managing your service station — simple, beautiful and in your pocket.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126480"/>
            <a:ext cx="9966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F7189"/>
                </a:solidFill>
                <a:latin typeface="Arial"/>
              </a:rPr>
              <a:t>Version 1.0.0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700"/>
              </a:spcAft>
            </a:pPr>
            <a:r>
              <a:rPr sz="3400" b="1">
                <a:solidFill>
                  <a:srgbClr val="1E5AA8"/>
                </a:solidFill>
                <a:latin typeface="Arial"/>
              </a:rPr>
              <a:t>Daily life in a station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640080" cy="6400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Pompa · Version 1.0.0 · © 2026 JawlaDev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6984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19072"/>
            <a:ext cx="1033272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1100"/>
              </a:spcAft>
            </a:pPr>
            <a:r>
              <a:rPr sz="2200" b="0">
                <a:solidFill>
                  <a:srgbClr val="13233A"/>
                </a:solidFill>
                <a:latin typeface="Arial"/>
              </a:rPr>
              <a:t>⚠  Cash gaps that nobody can explain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42032"/>
            <a:ext cx="106984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15184"/>
            <a:ext cx="1033272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1100"/>
              </a:spcAft>
            </a:pPr>
            <a:r>
              <a:rPr sz="2200" b="0">
                <a:solidFill>
                  <a:srgbClr val="13233A"/>
                </a:solidFill>
                <a:latin typeface="Arial"/>
              </a:rPr>
              <a:t>⚠  Fuel that vanishes between the delivery and the pump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38144"/>
            <a:ext cx="106984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11296"/>
            <a:ext cx="1033272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1100"/>
              </a:spcAft>
            </a:pPr>
            <a:r>
              <a:rPr sz="2200" b="0">
                <a:solidFill>
                  <a:srgbClr val="13233A"/>
                </a:solidFill>
                <a:latin typeface="Arial"/>
              </a:rPr>
              <a:t>⚠  Deliveries never checked: invoiced or really received?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34256"/>
            <a:ext cx="106984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407408"/>
            <a:ext cx="1033272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1100"/>
              </a:spcAft>
            </a:pPr>
            <a:r>
              <a:rPr sz="2200" b="0">
                <a:solidFill>
                  <a:srgbClr val="13233A"/>
                </a:solidFill>
                <a:latin typeface="Arial"/>
              </a:rPr>
              <a:t>⚠  Oil and filter stock counted “by eye”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30368"/>
            <a:ext cx="106984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303520"/>
            <a:ext cx="1033272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1100"/>
              </a:spcAft>
            </a:pPr>
            <a:r>
              <a:rPr sz="2200" b="0">
                <a:solidFill>
                  <a:srgbClr val="13233A"/>
                </a:solidFill>
                <a:latin typeface="Arial"/>
              </a:rPr>
              <a:t>⚠  No visibility when the manager is away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700"/>
              </a:spcAft>
            </a:pPr>
            <a:r>
              <a:rPr sz="3400" b="1">
                <a:solidFill>
                  <a:srgbClr val="1E5AA8"/>
                </a:solidFill>
                <a:latin typeface="Arial"/>
              </a:rPr>
              <a:t>Pompa: everything under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640080" cy="6400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Pompa · Version 1.0.0 · © 2026 JawlaDev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5661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E5AA8"/>
                </a:solidFill>
                <a:latin typeface="Arial"/>
              </a:rPr>
              <a:t>⏱️  Attendant shifts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32918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3233A"/>
                </a:solidFill>
                <a:latin typeface="Arial"/>
              </a:rPr>
              <a:t>Start and end index of every nozzle, money handed in (cash, card, coupons): the cash gap is calculated automatically.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5661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691640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E5AA8"/>
                </a:solidFill>
                <a:latin typeface="Arial"/>
              </a:rPr>
              <a:t>🛢️  Tanks under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331720"/>
            <a:ext cx="32918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3233A"/>
                </a:solidFill>
                <a:latin typeface="Arial"/>
              </a:rPr>
              <a:t>Theoretical stock, real gauging, an alert as soon as a gap or a low level appears.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1600200"/>
            <a:ext cx="35661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1691640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E5AA8"/>
                </a:solidFill>
                <a:latin typeface="Arial"/>
              </a:rPr>
              <a:t>🚚  Checked deliveries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331720"/>
            <a:ext cx="32918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3233A"/>
                </a:solidFill>
                <a:latin typeface="Arial"/>
              </a:rPr>
              <a:t>Delivery note, invoiced volume compared with received volume, supplier debts.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31920"/>
            <a:ext cx="35661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23359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E5AA8"/>
                </a:solidFill>
                <a:latin typeface="Arial"/>
              </a:rPr>
              <a:t>📦  Small stock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32918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3233A"/>
                </a:solidFill>
                <a:latin typeface="Arial"/>
              </a:rPr>
              <a:t>Oils, filters, consumables: counter sales tied to the shift, low stock alerts.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931920"/>
            <a:ext cx="35661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4023359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E5AA8"/>
                </a:solidFill>
                <a:latin typeface="Arial"/>
              </a:rPr>
              <a:t>📈  Clear figures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663440"/>
            <a:ext cx="32918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3233A"/>
                </a:solidFill>
                <a:latin typeface="Arial"/>
              </a:rPr>
              <a:t>Litres, takings, losses, estimated margin, by attendant and by fuel; Excel export.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59" y="3931920"/>
            <a:ext cx="35661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19" y="4023359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E5AA8"/>
                </a:solidFill>
                <a:latin typeface="Arial"/>
              </a:rPr>
              <a:t>📱  On your phone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19" y="4663440"/>
            <a:ext cx="32918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3233A"/>
                </a:solidFill>
                <a:latin typeface="Arial"/>
              </a:rPr>
              <a:t>Installable like an app, in French, Arabic and English.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700"/>
              </a:spcAft>
            </a:pPr>
            <a:r>
              <a:rPr sz="3400" b="1">
                <a:solidFill>
                  <a:srgbClr val="1E5AA8"/>
                </a:solidFill>
                <a:latin typeface="Arial"/>
              </a:rPr>
              <a:t>The manager sees everything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640080" cy="6400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Pompa · Version 1.0.0 · © 2026 JawlaDev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4</a:t>
            </a:r>
          </a:p>
        </p:txBody>
      </p:sp>
      <p:pic>
        <p:nvPicPr>
          <p:cNvPr id="7" name="Picture 6" descr="02-tableau-de-b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6766560" cy="4229100"/>
          </a:xfrm>
          <a:prstGeom prst="rect">
            <a:avLst/>
          </a:prstGeom>
          <a:ln w="12700">
            <a:solidFill>
              <a:srgbClr val="DCE5F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772400" y="1737360"/>
            <a:ext cx="3840480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50"/>
              </a:spcAft>
            </a:pPr>
            <a:r>
              <a:rPr sz="1700" b="0">
                <a:solidFill>
                  <a:srgbClr val="13233A"/>
                </a:solidFill>
                <a:latin typeface="Arial"/>
              </a:rPr>
              <a:t>Start and end index of every nozzle, money handed in (cash, card, coupons): the cash gap is calculated automatically.</a:t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13233A"/>
                </a:solidFill>
                <a:latin typeface="Arial"/>
              </a:rPr>
              <a:t>Theoretical stock, real gauging, an alert as soon as a gap or a low level appears.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700"/>
              </a:spcAft>
            </a:pPr>
            <a:r>
              <a:rPr sz="3400" b="1">
                <a:solidFill>
                  <a:srgbClr val="1E5AA8"/>
                </a:solidFill>
                <a:latin typeface="Arial"/>
              </a:rPr>
              <a:t>The attendant: 2 minutes, everything guided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640080" cy="6400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Pompa · Version 1.0.0 · © 2026 JawlaDev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5</a:t>
            </a:r>
          </a:p>
        </p:txBody>
      </p:sp>
      <p:pic>
        <p:nvPicPr>
          <p:cNvPr id="7" name="Picture 6" descr="m2-ouvrir-pos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45169"/>
            <a:ext cx="2697480" cy="3682060"/>
          </a:xfrm>
          <a:prstGeom prst="rect">
            <a:avLst/>
          </a:prstGeom>
          <a:ln w="12700">
            <a:solidFill>
              <a:srgbClr val="DCE5F1"/>
            </a:solidFill>
          </a:ln>
        </p:spPr>
      </p:pic>
      <p:pic>
        <p:nvPicPr>
          <p:cNvPr id="8" name="Picture 7" descr="m4-vente-compto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2638615"/>
            <a:ext cx="2697480" cy="2495169"/>
          </a:xfrm>
          <a:prstGeom prst="rect">
            <a:avLst/>
          </a:prstGeom>
          <a:ln w="12700">
            <a:solidFill>
              <a:srgbClr val="DCE5F1"/>
            </a:solidFill>
          </a:ln>
        </p:spPr>
      </p:pic>
      <p:pic>
        <p:nvPicPr>
          <p:cNvPr id="9" name="Picture 8" descr="m5-cloturer-pos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167" y="1508760"/>
            <a:ext cx="2505865" cy="4754880"/>
          </a:xfrm>
          <a:prstGeom prst="rect">
            <a:avLst/>
          </a:prstGeom>
          <a:ln w="12700">
            <a:solidFill>
              <a:srgbClr val="DCE5F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9098280" y="2011680"/>
            <a:ext cx="2651760" cy="3657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3233A"/>
                </a:solidFill>
                <a:latin typeface="Arial"/>
              </a:rPr>
              <a:t>Opens the shift, reads the indexes, sells at the counter, closes: everything is guided, in 2 minutes.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700"/>
              </a:spcAft>
            </a:pPr>
            <a:r>
              <a:rPr sz="3400" b="1">
                <a:solidFill>
                  <a:srgbClr val="1E5AA8"/>
                </a:solidFill>
                <a:latin typeface="Arial"/>
              </a:rPr>
              <a:t>Tanks and deliveries under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640080" cy="6400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Pompa · Version 1.0.0 · © 2026 JawlaDev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6</a:t>
            </a:r>
          </a:p>
        </p:txBody>
      </p:sp>
      <p:pic>
        <p:nvPicPr>
          <p:cNvPr id="7" name="Picture 6" descr="05-cu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577840" cy="3486150"/>
          </a:xfrm>
          <a:prstGeom prst="rect">
            <a:avLst/>
          </a:prstGeom>
          <a:ln w="12700">
            <a:solidFill>
              <a:srgbClr val="DCE5F1"/>
            </a:solidFill>
          </a:ln>
        </p:spPr>
      </p:pic>
      <p:pic>
        <p:nvPicPr>
          <p:cNvPr id="8" name="Picture 7" descr="08-livraison-nouvel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3237" y="1508760"/>
            <a:ext cx="3844324" cy="4572000"/>
          </a:xfrm>
          <a:prstGeom prst="rect">
            <a:avLst/>
          </a:prstGeom>
          <a:ln w="12700">
            <a:solidFill>
              <a:srgbClr val="DCE5F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48640" y="5257800"/>
            <a:ext cx="557784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50"/>
              </a:spcAft>
            </a:pPr>
            <a:r>
              <a:rPr sz="1500" b="0">
                <a:solidFill>
                  <a:srgbClr val="13233A"/>
                </a:solidFill>
                <a:latin typeface="Arial"/>
              </a:rPr>
              <a:t>Theoretical stock, real gauging, an alert as soon as a gap or a low level appears.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700"/>
              </a:spcAft>
            </a:pPr>
            <a:r>
              <a:rPr sz="3400" b="1">
                <a:solidFill>
                  <a:srgbClr val="1E5AA8"/>
                </a:solidFill>
                <a:latin typeface="Arial"/>
              </a:rPr>
              <a:t>Clear figures, by attendant and by fuel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640080" cy="6400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Pompa · Version 1.0.0 · © 2026 JawlaDev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7</a:t>
            </a:r>
          </a:p>
        </p:txBody>
      </p:sp>
      <p:pic>
        <p:nvPicPr>
          <p:cNvPr id="7" name="Picture 6" descr="10-rap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6766560" cy="4229100"/>
          </a:xfrm>
          <a:prstGeom prst="rect">
            <a:avLst/>
          </a:prstGeom>
          <a:ln w="12700">
            <a:solidFill>
              <a:srgbClr val="DCE5F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772400" y="1737360"/>
            <a:ext cx="3840480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50"/>
              </a:spcAft>
            </a:pPr>
            <a:r>
              <a:rPr sz="1700" b="0">
                <a:solidFill>
                  <a:srgbClr val="13233A"/>
                </a:solidFill>
                <a:latin typeface="Arial"/>
              </a:rPr>
              <a:t>Litres, takings, losses, estimated margin, by attendant and by fuel; Excel export.</a:t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13233A"/>
                </a:solidFill>
                <a:latin typeface="Arial"/>
              </a:rPr>
              <a:t>Oils, filters, consumables: counter sales tied to the shift, low stock alerts.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700"/>
              </a:spcAft>
            </a:pPr>
            <a:r>
              <a:rPr sz="3400" b="1">
                <a:solidFill>
                  <a:srgbClr val="1E5AA8"/>
                </a:solidFill>
                <a:latin typeface="Arial"/>
              </a:rPr>
              <a:t>Everyone sees what concerns them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640080" cy="6400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Pompa · Version 1.0.0 · © 2026 JawlaDev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56616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3566160" cy="1097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03120"/>
            <a:ext cx="3200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1">
                <a:solidFill>
                  <a:srgbClr val="1E5AA8"/>
                </a:solidFill>
                <a:latin typeface="Arial"/>
              </a:rPr>
              <a:t>The attendant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926080"/>
            <a:ext cx="3200400" cy="2560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13233A"/>
                </a:solidFill>
                <a:latin typeface="Arial"/>
              </a:rPr>
              <a:t>Opens the shift, reads the indexes, sells at the counter, closes: everything is guided, in 2 minutes.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737360"/>
            <a:ext cx="356616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737360"/>
            <a:ext cx="3566160" cy="1097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103120"/>
            <a:ext cx="3200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1">
                <a:solidFill>
                  <a:srgbClr val="1E5AA8"/>
                </a:solidFill>
                <a:latin typeface="Arial"/>
              </a:rPr>
              <a:t>The supervisor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26080"/>
            <a:ext cx="3200400" cy="2560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13233A"/>
                </a:solidFill>
                <a:latin typeface="Arial"/>
              </a:rPr>
              <a:t>Follows the shifts, takes the gaugings, records the deliveries, manages the stock.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1737360"/>
            <a:ext cx="356616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59" y="1737360"/>
            <a:ext cx="3566160" cy="1097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39" y="2103120"/>
            <a:ext cx="3200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1">
                <a:solidFill>
                  <a:srgbClr val="1E5AA8"/>
                </a:solidFill>
                <a:latin typeface="Arial"/>
              </a:rPr>
              <a:t>The manager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9" y="2926080"/>
            <a:ext cx="3200400" cy="2560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13233A"/>
                </a:solidFill>
                <a:latin typeface="Arial"/>
              </a:rPr>
              <a:t>Sees everything, sets the prices, creates the team, reads the reports, wherever they are.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700"/>
              </a:spcAft>
            </a:pPr>
            <a:r>
              <a:rPr sz="3400" b="1">
                <a:solidFill>
                  <a:srgbClr val="1E5AA8"/>
                </a:solidFill>
                <a:latin typeface="Arial"/>
              </a:rPr>
              <a:t>Two ways to host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640080" cy="6400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Pompa · Version 1.0.0 · © 2026 JawlaDev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1206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5120640" cy="109728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94560"/>
            <a:ext cx="46634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300"/>
              </a:spcAft>
            </a:pPr>
            <a:r>
              <a:rPr sz="2600" b="1">
                <a:solidFill>
                  <a:srgbClr val="1E5AA8"/>
                </a:solidFill>
                <a:latin typeface="Arial"/>
              </a:rPr>
              <a:t>Google 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08960"/>
            <a:ext cx="4663440" cy="1920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950"/>
              </a:spcAft>
            </a:pPr>
            <a:r>
              <a:rPr sz="1900" b="0">
                <a:solidFill>
                  <a:srgbClr val="13233A"/>
                </a:solidFill>
                <a:latin typeface="Arial"/>
              </a:rPr>
              <a:t>Free to host: Google Apps Script and Google Sheets. Nothing to install on a server.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828800"/>
            <a:ext cx="51206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828800"/>
            <a:ext cx="5120640" cy="109728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194560"/>
            <a:ext cx="46634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300"/>
              </a:spcAft>
            </a:pPr>
            <a:r>
              <a:rPr sz="2600" b="1">
                <a:solidFill>
                  <a:srgbClr val="1E5AA8"/>
                </a:solidFill>
                <a:latin typeface="Arial"/>
              </a:rPr>
              <a:t>PHP / MySQL 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108960"/>
            <a:ext cx="4663440" cy="1920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950"/>
              </a:spcAft>
            </a:pPr>
            <a:r>
              <a:rPr sz="1900" b="0">
                <a:solidFill>
                  <a:srgbClr val="13233A"/>
                </a:solidFill>
                <a:latin typeface="Arial"/>
              </a:rPr>
              <a:t>On the hosting of your choice: your data stays with you.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9496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F7189"/>
                </a:solidFill>
                <a:latin typeface="Arial"/>
              </a:rPr>
              <a:t>Automatic updates · Your data stays yours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700"/>
              </a:spcAft>
            </a:pPr>
            <a:r>
              <a:rPr sz="3400" b="1">
                <a:solidFill>
                  <a:srgbClr val="1E5AA8"/>
                </a:solidFill>
                <a:latin typeface="Arial"/>
              </a:rPr>
              <a:t>Why Pompa?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640080" cy="6400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Pompa · Version 1.0.0 · © 2026 JawlaDev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996696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1">
                <a:solidFill>
                  <a:srgbClr val="13233A"/>
                </a:solidFill>
                <a:latin typeface="Arial"/>
              </a:rPr>
              <a:t>✔  Designed with station managers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4320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996696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1">
                <a:solidFill>
                  <a:srgbClr val="13233A"/>
                </a:solidFill>
                <a:latin typeface="Arial"/>
              </a:rPr>
              <a:t>✔  No long training: the help is inside the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9476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886200"/>
            <a:ext cx="996696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1">
                <a:solidFill>
                  <a:srgbClr val="13233A"/>
                </a:solidFill>
                <a:latin typeface="Arial"/>
              </a:rPr>
              <a:t>✔  Your data stays yours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4632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937759"/>
            <a:ext cx="996696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1">
                <a:solidFill>
                  <a:srgbClr val="13233A"/>
                </a:solidFill>
                <a:latin typeface="Arial"/>
              </a:rPr>
              <a:t>✔  Automatic updates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5A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19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Free trial: we set up your station within 24 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480560" y="2194560"/>
            <a:ext cx="32004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o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331720"/>
            <a:ext cx="2926080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https://rayanem-dev.github.io/pompa/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900"/>
              </a:spcAft>
            </a:pPr>
            <a:r>
              <a:rPr sz="1800" b="1">
                <a:solidFill>
                  <a:srgbClr val="FFD9B0"/>
                </a:solidFill>
                <a:latin typeface="Arial"/>
              </a:rPr>
              <a:t>Rayane Redha Madani — Rayane M. · ☎ 0670779792 · ✉ rayanem@gmail.com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