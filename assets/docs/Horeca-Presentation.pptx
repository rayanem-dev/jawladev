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4E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HORECA · HÔTELLERIE · RESTAURATION · TRAITEUR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828800"/>
            <a:ext cx="5852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Votre Horeca, tous sites, un seul outil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4904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besoin au repas facturé : approvisionnement, stocks, menus, coûts, caisse, qualité et rapports, pour chaque site et pour la direction.</a:t>
            </a:r>
            <a:endParaRPr lang="en-US" sz="1800" dirty="0"/>
          </a:p>
        </p:txBody>
      </p:sp>
      <p:pic>
        <p:nvPicPr>
          <p:cNvPr id="5" name="Image 0" descr="/tmp/deck/img_horeca/dashboard_5.3x5.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822960"/>
            <a:ext cx="4846320" cy="521208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D4E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quotidien d'une restauration multi-sites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66928" cy="566928"/>
          </a:xfrm>
          <a:prstGeom prst="ellipse">
            <a:avLst/>
          </a:prstGeom>
          <a:solidFill>
            <a:srgbClr val="1D4E5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91640"/>
            <a:ext cx="292608" cy="29260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25880" y="1499616"/>
            <a:ext cx="5257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papiers partout</a:t>
            </a:r>
            <a:endParaRPr lang="en-US" sz="1700" dirty="0"/>
          </a:p>
          <a:p>
            <a:pPr indent="0" marL="0">
              <a:buNone/>
            </a:pPr>
            <a:r>
              <a:rPr lang="en-US" sz="13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Bons, attachements, inventaires : ressaisis, perdus, illisibles.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548640" y="2651760"/>
            <a:ext cx="566928" cy="566928"/>
          </a:xfrm>
          <a:prstGeom prst="ellipse">
            <a:avLst/>
          </a:prstGeom>
          <a:solidFill>
            <a:srgbClr val="1D4E5F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788920"/>
            <a:ext cx="292608" cy="29260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25880" y="2596896"/>
            <a:ext cx="5257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fichiers Excel isolés</a:t>
            </a:r>
            <a:endParaRPr lang="en-US" sz="1700" dirty="0"/>
          </a:p>
          <a:p>
            <a:pPr indent="0" marL="0">
              <a:buNone/>
            </a:pPr>
            <a:r>
              <a:rPr lang="en-US" sz="13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site a sa version ; personne n'a le total.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548640" y="3749040"/>
            <a:ext cx="566928" cy="566928"/>
          </a:xfrm>
          <a:prstGeom prst="ellipse">
            <a:avLst/>
          </a:prstGeom>
          <a:solidFill>
            <a:srgbClr val="1D4E5F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886200"/>
            <a:ext cx="292608" cy="29260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325880" y="3694176"/>
            <a:ext cx="5257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stock qu'on découvre trop tard</a:t>
            </a:r>
            <a:endParaRPr lang="en-US" sz="1700" dirty="0"/>
          </a:p>
          <a:p>
            <a:pPr indent="0" marL="0">
              <a:buNone/>
            </a:pPr>
            <a:r>
              <a:rPr lang="en-US" sz="13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Ruptures, périmés, achats en urgence.</a:t>
            </a:r>
            <a:endParaRPr lang="en-US" sz="1700" dirty="0"/>
          </a:p>
        </p:txBody>
      </p:sp>
      <p:sp>
        <p:nvSpPr>
          <p:cNvPr id="12" name="Shape 7"/>
          <p:cNvSpPr/>
          <p:nvPr/>
        </p:nvSpPr>
        <p:spPr>
          <a:xfrm>
            <a:off x="548640" y="4846320"/>
            <a:ext cx="566928" cy="566928"/>
          </a:xfrm>
          <a:prstGeom prst="ellipse">
            <a:avLst/>
          </a:prstGeom>
          <a:solidFill>
            <a:srgbClr val="1D4E5F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983480"/>
            <a:ext cx="292608" cy="292608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325880" y="4791456"/>
            <a:ext cx="5257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coût qu'on calcule après coup</a:t>
            </a:r>
            <a:endParaRPr lang="en-US" sz="1700" dirty="0"/>
          </a:p>
          <a:p>
            <a:pPr indent="0" marL="0">
              <a:buNone/>
            </a:pPr>
            <a:r>
              <a:rPr lang="en-US" sz="13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prix de revient journalier arrive quand il n'est plus modifiable.</a:t>
            </a:r>
            <a:endParaRPr lang="en-US" sz="1700" dirty="0"/>
          </a:p>
        </p:txBody>
      </p:sp>
      <p:sp>
        <p:nvSpPr>
          <p:cNvPr id="15" name="Shape 9"/>
          <p:cNvSpPr/>
          <p:nvPr/>
        </p:nvSpPr>
        <p:spPr>
          <a:xfrm>
            <a:off x="7315200" y="1554480"/>
            <a:ext cx="4297680" cy="4206240"/>
          </a:xfrm>
          <a:prstGeom prst="roundRect">
            <a:avLst>
              <a:gd name="adj" fmla="val 3261"/>
            </a:avLst>
          </a:prstGeom>
          <a:solidFill>
            <a:srgbClr val="F3F6F8"/>
          </a:solidFill>
          <a:ln/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6" name="Text 10"/>
          <p:cNvSpPr txBox="1"/>
          <p:nvPr/>
        </p:nvSpPr>
        <p:spPr>
          <a:xfrm>
            <a:off x="7589520" y="192024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2A8F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saisie</a:t>
            </a:r>
            <a:endParaRPr lang="en-US" sz="5400" dirty="0"/>
          </a:p>
        </p:txBody>
      </p:sp>
      <p:sp>
        <p:nvSpPr>
          <p:cNvPr id="17" name="Text 11"/>
          <p:cNvSpPr txBox="1"/>
          <p:nvPr/>
        </p:nvSpPr>
        <p:spPr>
          <a:xfrm>
            <a:off x="7589520" y="3108960"/>
            <a:ext cx="3749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 fois, à la source. Le stock, le coût, la facturation et les rapports s'en déduisent : plus de ressaisie, plus d'écart entre les sites.</a:t>
            </a:r>
            <a:endParaRPr lang="en-US" sz="1700" dirty="0"/>
          </a:p>
        </p:txBody>
      </p:sp>
      <p:sp>
        <p:nvSpPr>
          <p:cNvPr id="18" name="Text 12"/>
          <p:cNvSpPr txBox="1"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restauration multi-sites  ·  © 2026 Rayane M.  · 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D4E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chaîne complète, sans rupture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16636" y="2011680"/>
            <a:ext cx="1645920" cy="27432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73836" y="2240280"/>
            <a:ext cx="731520" cy="731520"/>
          </a:xfrm>
          <a:prstGeom prst="ellipse">
            <a:avLst/>
          </a:prstGeom>
          <a:solidFill>
            <a:srgbClr val="1D4E5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6716" y="24231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08076" y="31089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Prévoir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626364" y="3566160"/>
            <a:ext cx="14264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Effectifs du contrat, menus, besoins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418588" y="2011680"/>
            <a:ext cx="1645920" cy="27432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875788" y="2240280"/>
            <a:ext cx="731520" cy="731520"/>
          </a:xfrm>
          <a:prstGeom prst="ellipse">
            <a:avLst/>
          </a:prstGeom>
          <a:solidFill>
            <a:srgbClr val="2A8F6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8668" y="242316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510028" y="31089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Commander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2528316" y="3566160"/>
            <a:ext cx="14264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Depuis le stock, en 1 clic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320540" y="2011680"/>
            <a:ext cx="1645920" cy="27432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777740" y="2240280"/>
            <a:ext cx="731520" cy="731520"/>
          </a:xfrm>
          <a:prstGeom prst="ellipse">
            <a:avLst/>
          </a:prstGeom>
          <a:solidFill>
            <a:srgbClr val="1D4E5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0620" y="242316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411980" y="31089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Réceptionner</a:t>
            </a:r>
            <a:endParaRPr lang="en-US" sz="1900" dirty="0"/>
          </a:p>
        </p:txBody>
      </p:sp>
      <p:sp>
        <p:nvSpPr>
          <p:cNvPr id="17" name="Text 12"/>
          <p:cNvSpPr txBox="1"/>
          <p:nvPr/>
        </p:nvSpPr>
        <p:spPr>
          <a:xfrm>
            <a:off x="4430268" y="3566160"/>
            <a:ext cx="14264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et anomalies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222492" y="2011680"/>
            <a:ext cx="1645920" cy="27432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679692" y="2240280"/>
            <a:ext cx="731520" cy="731520"/>
          </a:xfrm>
          <a:prstGeom prst="ellipse">
            <a:avLst/>
          </a:prstGeom>
          <a:solidFill>
            <a:srgbClr val="2A8F6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2572" y="242316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313932" y="31089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Produire</a:t>
            </a:r>
            <a:endParaRPr lang="en-US" sz="1900" dirty="0"/>
          </a:p>
        </p:txBody>
      </p:sp>
      <p:sp>
        <p:nvSpPr>
          <p:cNvPr id="22" name="Text 16"/>
          <p:cNvSpPr txBox="1"/>
          <p:nvPr/>
        </p:nvSpPr>
        <p:spPr>
          <a:xfrm>
            <a:off x="6332220" y="3566160"/>
            <a:ext cx="14264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Recettes, bons de sortie signés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8124444" y="2011680"/>
            <a:ext cx="1645920" cy="27432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8581644" y="2240280"/>
            <a:ext cx="731520" cy="731520"/>
          </a:xfrm>
          <a:prstGeom prst="ellipse">
            <a:avLst/>
          </a:prstGeom>
          <a:solidFill>
            <a:srgbClr val="1D4E5F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4524" y="2423160"/>
            <a:ext cx="365760" cy="36576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8215884" y="31089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Facturer</a:t>
            </a:r>
            <a:endParaRPr lang="en-US" sz="1900" dirty="0"/>
          </a:p>
        </p:txBody>
      </p:sp>
      <p:sp>
        <p:nvSpPr>
          <p:cNvPr id="27" name="Text 20"/>
          <p:cNvSpPr txBox="1"/>
          <p:nvPr/>
        </p:nvSpPr>
        <p:spPr>
          <a:xfrm>
            <a:off x="8234172" y="3566160"/>
            <a:ext cx="14264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Attachements signés des deux parties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10026396" y="2011680"/>
            <a:ext cx="1645920" cy="27432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10483596" y="2240280"/>
            <a:ext cx="731520" cy="731520"/>
          </a:xfrm>
          <a:prstGeom prst="ellipse">
            <a:avLst/>
          </a:prstGeom>
          <a:solidFill>
            <a:srgbClr val="2A8F6F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66476" y="2423160"/>
            <a:ext cx="365760" cy="36576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10117836" y="31089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Piloter</a:t>
            </a:r>
            <a:endParaRPr lang="en-US" sz="1900" dirty="0"/>
          </a:p>
        </p:txBody>
      </p:sp>
      <p:sp>
        <p:nvSpPr>
          <p:cNvPr id="32" name="Text 24"/>
          <p:cNvSpPr txBox="1"/>
          <p:nvPr/>
        </p:nvSpPr>
        <p:spPr>
          <a:xfrm>
            <a:off x="10136124" y="3566160"/>
            <a:ext cx="14264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PRJ, écarts, rapports</a:t>
            </a:r>
            <a:endParaRPr lang="en-US" sz="1300" dirty="0"/>
          </a:p>
        </p:txBody>
      </p:sp>
      <p:sp>
        <p:nvSpPr>
          <p:cNvPr id="33" name="Text 25"/>
          <p:cNvSpPr txBox="1"/>
          <p:nvPr/>
        </p:nvSpPr>
        <p:spPr>
          <a:xfrm>
            <a:off x="548640" y="53035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1D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étape alimente la suivante : une seule saisie, des chiffres identiques pour tous.</a:t>
            </a:r>
            <a:endParaRPr lang="en-US" sz="1700" dirty="0"/>
          </a:p>
        </p:txBody>
      </p:sp>
      <p:sp>
        <p:nvSpPr>
          <p:cNvPr id="34" name="Text 26"/>
          <p:cNvSpPr txBox="1"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restauration multi-sites  ·  © 2026 Rayane M.  · 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D4E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Pilotage : la situation en un coup d'œil</a:t>
            </a:r>
            <a:endParaRPr lang="en-US" sz="3400" dirty="0"/>
          </a:p>
        </p:txBody>
      </p:sp>
      <p:pic>
        <p:nvPicPr>
          <p:cNvPr id="3" name="Image 0" descr="/tmp/deck/img_horeca/dashboard_7.4x4.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6766560" cy="448056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7772400" y="1600200"/>
            <a:ext cx="566928" cy="566928"/>
          </a:xfrm>
          <a:prstGeom prst="ellipse">
            <a:avLst/>
          </a:prstGeom>
          <a:solidFill>
            <a:srgbClr val="2A8F6F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1737360"/>
            <a:ext cx="292608" cy="29260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8549640" y="1545336"/>
            <a:ext cx="3154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Jauges vert / orange / rouge</a:t>
            </a:r>
            <a:endParaRPr lang="en-US" sz="1700" dirty="0"/>
          </a:p>
          <a:p>
            <a:pPr indent="0" marL="0">
              <a:buNone/>
            </a:pPr>
            <a:r>
              <a:rPr lang="en-US" sz="13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Dette échue, stock, réceptions, PRJ.</a:t>
            </a:r>
            <a:endParaRPr lang="en-US" sz="1700" dirty="0"/>
          </a:p>
        </p:txBody>
      </p:sp>
      <p:sp>
        <p:nvSpPr>
          <p:cNvPr id="7" name="Shape 3"/>
          <p:cNvSpPr/>
          <p:nvPr/>
        </p:nvSpPr>
        <p:spPr>
          <a:xfrm>
            <a:off x="7772400" y="2971800"/>
            <a:ext cx="566928" cy="566928"/>
          </a:xfrm>
          <a:prstGeom prst="ellipse">
            <a:avLst/>
          </a:prstGeom>
          <a:solidFill>
            <a:srgbClr val="2A8F6F"/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0" y="3108960"/>
            <a:ext cx="292608" cy="292608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8549640" y="2916936"/>
            <a:ext cx="3154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à traiter</a:t>
            </a:r>
            <a:endParaRPr lang="en-US" sz="1700" dirty="0"/>
          </a:p>
          <a:p>
            <a:pPr indent="0" marL="0">
              <a:buNone/>
            </a:pPr>
            <a:r>
              <a:rPr lang="en-US" sz="13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clic ouvre l'écran concerné.</a:t>
            </a:r>
            <a:endParaRPr lang="en-US" sz="1700" dirty="0"/>
          </a:p>
        </p:txBody>
      </p:sp>
      <p:sp>
        <p:nvSpPr>
          <p:cNvPr id="10" name="Shape 5"/>
          <p:cNvSpPr/>
          <p:nvPr/>
        </p:nvSpPr>
        <p:spPr>
          <a:xfrm>
            <a:off x="7772400" y="4343400"/>
            <a:ext cx="566928" cy="566928"/>
          </a:xfrm>
          <a:prstGeom prst="ellipse">
            <a:avLst/>
          </a:prstGeom>
          <a:solidFill>
            <a:srgbClr val="2A8F6F"/>
          </a:solidFill>
          <a:ln/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9560" y="4480560"/>
            <a:ext cx="292608" cy="2926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8549640" y="4288536"/>
            <a:ext cx="3154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et tendances</a:t>
            </a:r>
            <a:endParaRPr lang="en-US" sz="1700" dirty="0"/>
          </a:p>
          <a:p>
            <a:pPr indent="0" marL="0">
              <a:buNone/>
            </a:pPr>
            <a:r>
              <a:rPr lang="en-US" sz="13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Achats, paiements, dettes, PRJ sur 14 jours.</a:t>
            </a:r>
            <a:endParaRPr lang="en-US" sz="1700" dirty="0"/>
          </a:p>
        </p:txBody>
      </p:sp>
      <p:sp>
        <p:nvSpPr>
          <p:cNvPr id="13" name="Text 7"/>
          <p:cNvSpPr txBox="1"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restauration multi-sites  ·  © 2026 Rayane M.  · 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D4E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Commander depuis le stock, en un clic</a:t>
            </a:r>
            <a:endParaRPr lang="en-US" sz="3400" dirty="0"/>
          </a:p>
        </p:txBody>
      </p:sp>
      <p:pic>
        <p:nvPicPr>
          <p:cNvPr id="3" name="Image 0" descr="/tmp/deck/img_horeca/commande-depuis-stock_6.5x4.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664953"/>
            <a:ext cx="5943600" cy="3893854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548640" y="1554480"/>
            <a:ext cx="566928" cy="566928"/>
          </a:xfrm>
          <a:prstGeom prst="ellipse">
            <a:avLst/>
          </a:prstGeom>
          <a:solidFill>
            <a:srgbClr val="2A8F6F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91640"/>
            <a:ext cx="292608" cy="29260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325880" y="1499616"/>
            <a:ext cx="4069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Proposition automatique</a:t>
            </a:r>
            <a:endParaRPr lang="en-US" sz="1700" dirty="0"/>
          </a:p>
          <a:p>
            <a:pPr indent="0" marL="0">
              <a:buNone/>
            </a:pPr>
            <a:r>
              <a:rPr lang="en-US" sz="13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 des menus ou consommation moyenne, moins stock et livraisons en route.</a:t>
            </a:r>
            <a:endParaRPr lang="en-US" sz="1700" dirty="0"/>
          </a:p>
        </p:txBody>
      </p:sp>
      <p:sp>
        <p:nvSpPr>
          <p:cNvPr id="7" name="Shape 3"/>
          <p:cNvSpPr/>
          <p:nvPr/>
        </p:nvSpPr>
        <p:spPr>
          <a:xfrm>
            <a:off x="548640" y="2971800"/>
            <a:ext cx="566928" cy="566928"/>
          </a:xfrm>
          <a:prstGeom prst="ellipse">
            <a:avLst/>
          </a:prstGeom>
          <a:solidFill>
            <a:srgbClr val="2A8F6F"/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108960"/>
            <a:ext cx="292608" cy="292608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325880" y="2916936"/>
            <a:ext cx="4069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produits épuisés d'abord</a:t>
            </a:r>
            <a:endParaRPr lang="en-US" sz="1700" dirty="0"/>
          </a:p>
          <a:p>
            <a:pPr indent="0" marL="0">
              <a:buNone/>
            </a:pPr>
            <a:r>
              <a:rPr lang="en-US" sz="13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Rien n'est oublié.</a:t>
            </a:r>
            <a:endParaRPr lang="en-US" sz="1700" dirty="0"/>
          </a:p>
        </p:txBody>
      </p:sp>
      <p:sp>
        <p:nvSpPr>
          <p:cNvPr id="10" name="Shape 5"/>
          <p:cNvSpPr/>
          <p:nvPr/>
        </p:nvSpPr>
        <p:spPr>
          <a:xfrm>
            <a:off x="548640" y="4389120"/>
            <a:ext cx="566928" cy="566928"/>
          </a:xfrm>
          <a:prstGeom prst="ellipse">
            <a:avLst/>
          </a:prstGeom>
          <a:solidFill>
            <a:srgbClr val="2A8F6F"/>
          </a:solidFill>
          <a:ln/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526280"/>
            <a:ext cx="292608" cy="2926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325880" y="4334256"/>
            <a:ext cx="4069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 inventaire / commande</a:t>
            </a:r>
            <a:endParaRPr lang="en-US" sz="1700" dirty="0"/>
          </a:p>
          <a:p>
            <a:pPr indent="0" marL="0">
              <a:buNone/>
            </a:pPr>
            <a:r>
              <a:rPr lang="en-US" sz="13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formulaire papier, prérempli, en PDF.</a:t>
            </a:r>
            <a:endParaRPr lang="en-US" sz="1700" dirty="0"/>
          </a:p>
        </p:txBody>
      </p:sp>
      <p:sp>
        <p:nvSpPr>
          <p:cNvPr id="13" name="Text 7"/>
          <p:cNvSpPr txBox="1"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restauration multi-sites  ·  © 2026 Rayane M.  ·  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D4E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Recettes, menus et bons de sortie signés</a:t>
            </a:r>
            <a:endParaRPr lang="en-US" sz="3400" dirty="0"/>
          </a:p>
        </p:txBody>
      </p:sp>
      <p:pic>
        <p:nvPicPr>
          <p:cNvPr id="3" name="Image 0" descr="/tmp/deck/img_horeca/menus_6.2x4.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5669280" cy="448056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6583680" y="1463040"/>
            <a:ext cx="566928" cy="566928"/>
          </a:xfrm>
          <a:prstGeom prst="ellipse">
            <a:avLst/>
          </a:prstGeom>
          <a:solidFill>
            <a:srgbClr val="2A8F6F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600200"/>
            <a:ext cx="292608" cy="29260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7360920" y="1408176"/>
            <a:ext cx="4251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Recettes et coût par personne</a:t>
            </a:r>
            <a:endParaRPr lang="en-US" sz="1700" dirty="0"/>
          </a:p>
          <a:p>
            <a:pPr indent="0" marL="0">
              <a:buNone/>
            </a:pPr>
            <a:r>
              <a:rPr lang="en-US" sz="13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Quantités pour une base de personnes, chiffrées.</a:t>
            </a:r>
            <a:endParaRPr lang="en-US" sz="1700" dirty="0"/>
          </a:p>
        </p:txBody>
      </p:sp>
      <p:sp>
        <p:nvSpPr>
          <p:cNvPr id="7" name="Shape 3"/>
          <p:cNvSpPr/>
          <p:nvPr/>
        </p:nvSpPr>
        <p:spPr>
          <a:xfrm>
            <a:off x="6583680" y="2560320"/>
            <a:ext cx="566928" cy="566928"/>
          </a:xfrm>
          <a:prstGeom prst="ellipse">
            <a:avLst/>
          </a:prstGeom>
          <a:solidFill>
            <a:srgbClr val="2A8F6F"/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697480"/>
            <a:ext cx="292608" cy="292608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7360920" y="2505456"/>
            <a:ext cx="4251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 de sortie calculé</a:t>
            </a:r>
            <a:endParaRPr lang="en-US" sz="1700" dirty="0"/>
          </a:p>
          <a:p>
            <a:pPr indent="0" marL="0">
              <a:buNone/>
            </a:pPr>
            <a:r>
              <a:rPr lang="en-US" sz="13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 toléré réglable ; motif obligatoire au-delà.</a:t>
            </a:r>
            <a:endParaRPr lang="en-US" sz="1700" dirty="0"/>
          </a:p>
        </p:txBody>
      </p:sp>
      <p:sp>
        <p:nvSpPr>
          <p:cNvPr id="10" name="Shape 5"/>
          <p:cNvSpPr/>
          <p:nvPr/>
        </p:nvSpPr>
        <p:spPr>
          <a:xfrm>
            <a:off x="6583680" y="3657600"/>
            <a:ext cx="566928" cy="566928"/>
          </a:xfrm>
          <a:prstGeom prst="ellipse">
            <a:avLst/>
          </a:prstGeom>
          <a:solidFill>
            <a:srgbClr val="2A8F6F"/>
          </a:solidFill>
          <a:ln/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3794760"/>
            <a:ext cx="292608" cy="2926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7360920" y="3602736"/>
            <a:ext cx="4251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nominative</a:t>
            </a:r>
            <a:endParaRPr lang="en-US" sz="1700" dirty="0"/>
          </a:p>
          <a:p>
            <a:pPr indent="0" marL="0">
              <a:buNone/>
            </a:pPr>
            <a:r>
              <a:rPr lang="en-US" sz="13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Demandeur au choix, magasinier : nom et poste sur le bon.</a:t>
            </a:r>
            <a:endParaRPr lang="en-US" sz="1700" dirty="0"/>
          </a:p>
        </p:txBody>
      </p:sp>
      <p:sp>
        <p:nvSpPr>
          <p:cNvPr id="13" name="Shape 7"/>
          <p:cNvSpPr/>
          <p:nvPr/>
        </p:nvSpPr>
        <p:spPr>
          <a:xfrm>
            <a:off x="6583680" y="4754880"/>
            <a:ext cx="566928" cy="566928"/>
          </a:xfrm>
          <a:prstGeom prst="ellipse">
            <a:avLst/>
          </a:prstGeom>
          <a:solidFill>
            <a:srgbClr val="2A8F6F"/>
          </a:solidFill>
          <a:ln/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840" y="4892040"/>
            <a:ext cx="292608" cy="292608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7360920" y="4700016"/>
            <a:ext cx="4251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de la semaine</a:t>
            </a:r>
            <a:endParaRPr lang="en-US" sz="1700" dirty="0"/>
          </a:p>
          <a:p>
            <a:pPr indent="0" marL="0">
              <a:buNone/>
            </a:pPr>
            <a:r>
              <a:rPr lang="en-US" sz="13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 de la semaine précédente en un clic.</a:t>
            </a:r>
            <a:endParaRPr lang="en-US" sz="1700" dirty="0"/>
          </a:p>
        </p:txBody>
      </p:sp>
      <p:sp>
        <p:nvSpPr>
          <p:cNvPr id="16" name="Text 9"/>
          <p:cNvSpPr txBox="1"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restauration multi-sites  ·  © 2026 Rayane M.  ·  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D4E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Attachements : la base de la facturation</a:t>
            </a:r>
            <a:endParaRPr lang="en-US" sz="3400" dirty="0"/>
          </a:p>
        </p:txBody>
      </p:sp>
      <p:pic>
        <p:nvPicPr>
          <p:cNvPr id="3" name="Image 0" descr="/tmp/deck/img_horeca/attachement-jour_5.6x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280160"/>
            <a:ext cx="5120640" cy="457200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548640" y="1554480"/>
            <a:ext cx="566928" cy="566928"/>
          </a:xfrm>
          <a:prstGeom prst="ellipse">
            <a:avLst/>
          </a:prstGeom>
          <a:solidFill>
            <a:srgbClr val="2A8F6F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91640"/>
            <a:ext cx="292608" cy="29260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325880" y="1499616"/>
            <a:ext cx="4892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signataires, nominatifs</a:t>
            </a:r>
            <a:endParaRPr lang="en-US" sz="1700" dirty="0"/>
          </a:p>
          <a:p>
            <a:pPr indent="0" marL="0">
              <a:buNone/>
            </a:pPr>
            <a:r>
              <a:rPr lang="en-US" sz="13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et prestataire : nom et poste, sur le jour comme sur le mois.</a:t>
            </a:r>
            <a:endParaRPr lang="en-US" sz="1700" dirty="0"/>
          </a:p>
        </p:txBody>
      </p:sp>
      <p:sp>
        <p:nvSpPr>
          <p:cNvPr id="7" name="Shape 3"/>
          <p:cNvSpPr/>
          <p:nvPr/>
        </p:nvSpPr>
        <p:spPr>
          <a:xfrm>
            <a:off x="548640" y="2971800"/>
            <a:ext cx="566928" cy="566928"/>
          </a:xfrm>
          <a:prstGeom prst="ellipse">
            <a:avLst/>
          </a:prstGeom>
          <a:solidFill>
            <a:srgbClr val="2A8F6F"/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108960"/>
            <a:ext cx="292608" cy="292608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325880" y="2916936"/>
            <a:ext cx="4892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figés à la signature</a:t>
            </a:r>
            <a:endParaRPr lang="en-US" sz="1700" dirty="0"/>
          </a:p>
          <a:p>
            <a:pPr indent="0" marL="0">
              <a:buNone/>
            </a:pPr>
            <a:r>
              <a:rPr lang="en-US" sz="13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tarif modifié ne change pas les jours déjà signés.</a:t>
            </a:r>
            <a:endParaRPr lang="en-US" sz="1700" dirty="0"/>
          </a:p>
        </p:txBody>
      </p:sp>
      <p:sp>
        <p:nvSpPr>
          <p:cNvPr id="10" name="Shape 5"/>
          <p:cNvSpPr/>
          <p:nvPr/>
        </p:nvSpPr>
        <p:spPr>
          <a:xfrm>
            <a:off x="548640" y="4389120"/>
            <a:ext cx="566928" cy="566928"/>
          </a:xfrm>
          <a:prstGeom prst="ellipse">
            <a:avLst/>
          </a:prstGeom>
          <a:solidFill>
            <a:srgbClr val="2A8F6F"/>
          </a:solidFill>
          <a:ln/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526280"/>
            <a:ext cx="292608" cy="2926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325880" y="4334256"/>
            <a:ext cx="4892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bilingue en PDF</a:t>
            </a:r>
            <a:endParaRPr lang="en-US" sz="1700" dirty="0"/>
          </a:p>
          <a:p>
            <a:pPr indent="0" marL="0">
              <a:buNone/>
            </a:pPr>
            <a:r>
              <a:rPr lang="en-US" sz="13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Prêt à imprimer, à signer et à archiver.</a:t>
            </a:r>
            <a:endParaRPr lang="en-US" sz="1700" dirty="0"/>
          </a:p>
        </p:txBody>
      </p:sp>
      <p:sp>
        <p:nvSpPr>
          <p:cNvPr id="13" name="Text 7"/>
          <p:cNvSpPr txBox="1"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restauration multi-sites  ·  © 2026 Rayane M.  ·  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D4E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Caisse de site : chaque euro est tracé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011680" cy="1051560"/>
          </a:xfrm>
          <a:prstGeom prst="roundRect">
            <a:avLst>
              <a:gd name="adj" fmla="val 8696"/>
            </a:avLst>
          </a:prstGeom>
          <a:solidFill>
            <a:srgbClr val="1D4E5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</a:t>
            </a:r>
            <a:endParaRPr lang="en-US" sz="16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Responsable du site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88920" y="1463040"/>
            <a:ext cx="2011680" cy="1051560"/>
          </a:xfrm>
          <a:prstGeom prst="roundRect">
            <a:avLst>
              <a:gd name="adj" fmla="val 8696"/>
            </a:avLst>
          </a:prstGeom>
          <a:solidFill>
            <a:srgbClr val="2A8F6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880360" y="146304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6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des opérations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1463040"/>
            <a:ext cx="2011680" cy="1051560"/>
          </a:xfrm>
          <a:prstGeom prst="roundRect">
            <a:avLst>
              <a:gd name="adj" fmla="val 8696"/>
            </a:avLst>
          </a:prstGeom>
          <a:solidFill>
            <a:srgbClr val="1D4E5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120640" y="146304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Versement</a:t>
            </a:r>
            <a:endParaRPr lang="en-US" sz="16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financier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269480" y="1463040"/>
            <a:ext cx="2011680" cy="1051560"/>
          </a:xfrm>
          <a:prstGeom prst="roundRect">
            <a:avLst>
              <a:gd name="adj" fmla="val 8696"/>
            </a:avLst>
          </a:prstGeom>
          <a:solidFill>
            <a:srgbClr val="2A8F6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60920" y="146304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Achats locaux</a:t>
            </a:r>
            <a:endParaRPr lang="en-US" sz="16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Entrée en stock au prix payé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509760" y="1463040"/>
            <a:ext cx="2011680" cy="1051560"/>
          </a:xfrm>
          <a:prstGeom prst="roundRect">
            <a:avLst>
              <a:gd name="adj" fmla="val 8696"/>
            </a:avLst>
          </a:prstGeom>
          <a:solidFill>
            <a:srgbClr val="1D4E5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601200" y="146304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Clôture</a:t>
            </a:r>
            <a:endParaRPr lang="en-US" sz="16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 et reliquat</a:t>
            </a:r>
            <a:endParaRPr lang="en-US" sz="1600" dirty="0"/>
          </a:p>
        </p:txBody>
      </p:sp>
      <p:pic>
        <p:nvPicPr>
          <p:cNvPr id="13" name="Image 0" descr="/tmp/deck/img_horeca/caisse-detail_6.6x3.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959758"/>
            <a:ext cx="6035040" cy="2950165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pic>
      <p:sp>
        <p:nvSpPr>
          <p:cNvPr id="14" name="Text 11"/>
          <p:cNvSpPr txBox="1"/>
          <p:nvPr/>
        </p:nvSpPr>
        <p:spPr>
          <a:xfrm>
            <a:off x="6949440" y="2926080"/>
            <a:ext cx="4663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caisse par site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Indépendante des autres sites.</a:t>
            </a:r>
            <a:endParaRPr lang="en-US" sz="18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coût entre dans le PRJ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dépense est un achat local : stock, prix, pièce, fournisseur.</a:t>
            </a:r>
            <a:endParaRPr lang="en-US" sz="18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 signatures nominatives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Demandeur, validation, versement, fonds reçus.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restauration multi-sites  ·  © 2026 Rayane M.  ·  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D4E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Qualité : incidents, pertes, rapport quotidien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20440" cy="44805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/tmp/deck/img_horeca/incidents_3.45x2.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45920"/>
            <a:ext cx="3154680" cy="21945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77240" y="40233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4E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Incidents et réclamations</a:t>
            </a:r>
            <a:endParaRPr lang="en-US" sz="19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452628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 → cause → action → responsable → échéance → contrôle.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343400" y="1463040"/>
            <a:ext cx="3520440" cy="44805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8" name="Image 1" descr="/tmp/deck/img_horeca/pertes_3.45x2.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645920"/>
            <a:ext cx="3154680" cy="21945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72000" y="40233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4E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Pertes et gaspillage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4572000" y="452628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Motif obligatoire ; le coût entre dans le PRJ.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8138160" y="1463040"/>
            <a:ext cx="3520440" cy="44805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2" name="Image 2" descr="/tmp/deck/img_horeca/rapport-quotidien-direction_3.45x2.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645920"/>
            <a:ext cx="3154680" cy="21945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366760" y="40233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4E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Rapport quotidien</a:t>
            </a:r>
            <a:endParaRPr lang="en-US" sz="1900" dirty="0"/>
          </a:p>
        </p:txBody>
      </p:sp>
      <p:sp>
        <p:nvSpPr>
          <p:cNvPr id="14" name="Text 9"/>
          <p:cNvSpPr txBox="1"/>
          <p:nvPr/>
        </p:nvSpPr>
        <p:spPr>
          <a:xfrm>
            <a:off x="8366760" y="452628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Chiffres calculés, transmis et signés chaque jour.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restauration multi-sites  ·  © 2026 Rayane M.  ·  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D4E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rapports, PDF et Excel</a:t>
            </a:r>
            <a:endParaRPr lang="en-US" sz="3400" dirty="0"/>
          </a:p>
        </p:txBody>
      </p:sp>
      <p:pic>
        <p:nvPicPr>
          <p:cNvPr id="3" name="Image 0" descr="/tmp/deck/img_horeca/rapports-resultat_6.4x4.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1371600"/>
            <a:ext cx="5852160" cy="448056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548640" y="1554480"/>
            <a:ext cx="566928" cy="566928"/>
          </a:xfrm>
          <a:prstGeom prst="ellipse">
            <a:avLst/>
          </a:prstGeom>
          <a:solidFill>
            <a:srgbClr val="1D4E5F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91640"/>
            <a:ext cx="292608" cy="29260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325880" y="1499616"/>
            <a:ext cx="4251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Filtrer comme vous voulez</a:t>
            </a:r>
            <a:endParaRPr lang="en-US" sz="1700" dirty="0"/>
          </a:p>
          <a:p>
            <a:pPr indent="0" marL="0">
              <a:buNone/>
            </a:pPr>
            <a:r>
              <a:rPr lang="en-US" sz="13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Période, site, client : seuls les filtres utiles apparaissent.</a:t>
            </a:r>
            <a:endParaRPr lang="en-US" sz="1700" dirty="0"/>
          </a:p>
        </p:txBody>
      </p:sp>
      <p:sp>
        <p:nvSpPr>
          <p:cNvPr id="7" name="Shape 3"/>
          <p:cNvSpPr/>
          <p:nvPr/>
        </p:nvSpPr>
        <p:spPr>
          <a:xfrm>
            <a:off x="548640" y="2971800"/>
            <a:ext cx="566928" cy="566928"/>
          </a:xfrm>
          <a:prstGeom prst="ellipse">
            <a:avLst/>
          </a:prstGeom>
          <a:solidFill>
            <a:srgbClr val="1D4E5F"/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108960"/>
            <a:ext cx="292608" cy="292608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325880" y="2916936"/>
            <a:ext cx="4251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Consulter, PDF, Excel</a:t>
            </a:r>
            <a:endParaRPr lang="en-US" sz="1700" dirty="0"/>
          </a:p>
          <a:p>
            <a:pPr indent="0" marL="0">
              <a:buNone/>
            </a:pPr>
            <a:r>
              <a:rPr lang="en-US" sz="13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l'écran, en mise en page ou en listing complet.</a:t>
            </a:r>
            <a:endParaRPr lang="en-US" sz="1700" dirty="0"/>
          </a:p>
        </p:txBody>
      </p:sp>
      <p:sp>
        <p:nvSpPr>
          <p:cNvPr id="10" name="Shape 5"/>
          <p:cNvSpPr/>
          <p:nvPr/>
        </p:nvSpPr>
        <p:spPr>
          <a:xfrm>
            <a:off x="548640" y="4389120"/>
            <a:ext cx="566928" cy="566928"/>
          </a:xfrm>
          <a:prstGeom prst="ellipse">
            <a:avLst/>
          </a:prstGeom>
          <a:solidFill>
            <a:srgbClr val="1D4E5F"/>
          </a:solidFill>
          <a:ln/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526280"/>
            <a:ext cx="292608" cy="2926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325880" y="4334256"/>
            <a:ext cx="4251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Chacun voit son périmètre</a:t>
            </a:r>
            <a:endParaRPr lang="en-US" sz="1700" dirty="0"/>
          </a:p>
          <a:p>
            <a:pPr indent="0" marL="0">
              <a:buNone/>
            </a:pPr>
            <a:r>
              <a:rPr lang="en-US" sz="13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Droits par rapport, montants protégés, un site ne voit que lui-même.</a:t>
            </a:r>
            <a:endParaRPr lang="en-US" sz="1700" dirty="0"/>
          </a:p>
        </p:txBody>
      </p:sp>
      <p:sp>
        <p:nvSpPr>
          <p:cNvPr id="13" name="Text 7"/>
          <p:cNvSpPr txBox="1"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restauration multi-sites  ·  © 2026 Rayane M.  ·  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D4E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rôle, des droits adaptés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163B48"/>
          </a:solidFill>
          <a:ln w="12700">
            <a:solidFill>
              <a:srgbClr val="2F617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691640"/>
            <a:ext cx="2240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</a:t>
            </a:r>
            <a:endParaRPr lang="en-US" sz="1800" dirty="0"/>
          </a:p>
          <a:p>
            <a:pPr indent="0" marL="0">
              <a:buNone/>
            </a:pPr>
            <a:r>
              <a:rPr lang="en-US" sz="1350" dirty="0">
                <a:solidFill>
                  <a:srgbClr val="DC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Voit et décide : configuration, finances, sauvegardes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383280" y="155448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163B48"/>
          </a:solidFill>
          <a:ln w="12700">
            <a:solidFill>
              <a:srgbClr val="2F617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566160" y="1691640"/>
            <a:ext cx="2240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Opérations</a:t>
            </a:r>
            <a:endParaRPr lang="en-US" sz="1800" dirty="0"/>
          </a:p>
          <a:p>
            <a:pPr indent="0" marL="0">
              <a:buNone/>
            </a:pPr>
            <a:r>
              <a:rPr lang="en-US" sz="1350" dirty="0">
                <a:solidFill>
                  <a:srgbClr val="DC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 commandes, inventaires, caisse, incidents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217920" y="155448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163B48"/>
          </a:solidFill>
          <a:ln w="12700">
            <a:solidFill>
              <a:srgbClr val="2F617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0" y="1691640"/>
            <a:ext cx="2240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Superviseur</a:t>
            </a:r>
            <a:endParaRPr lang="en-US" sz="1800" dirty="0"/>
          </a:p>
          <a:p>
            <a:pPr indent="0" marL="0">
              <a:buNone/>
            </a:pPr>
            <a:r>
              <a:rPr lang="en-US" sz="1350" dirty="0">
                <a:solidFill>
                  <a:srgbClr val="DC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les sites, audite, clôt les incidents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052560" y="155448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163B48"/>
          </a:solidFill>
          <a:ln w="12700">
            <a:solidFill>
              <a:srgbClr val="2F617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235440" y="1691640"/>
            <a:ext cx="2240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Achats</a:t>
            </a:r>
            <a:endParaRPr lang="en-US" sz="1800" dirty="0"/>
          </a:p>
          <a:p>
            <a:pPr indent="0" marL="0">
              <a:buNone/>
            </a:pPr>
            <a:r>
              <a:rPr lang="en-US" sz="1350" dirty="0">
                <a:solidFill>
                  <a:srgbClr val="DC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Catalogue, bons de commande, expéditions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347472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163B48"/>
          </a:solidFill>
          <a:ln w="12700">
            <a:solidFill>
              <a:srgbClr val="2F617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3611880"/>
            <a:ext cx="2240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800" dirty="0"/>
          </a:p>
          <a:p>
            <a:pPr indent="0" marL="0">
              <a:buNone/>
            </a:pPr>
            <a:r>
              <a:rPr lang="en-US" sz="1350" dirty="0">
                <a:solidFill>
                  <a:srgbClr val="DC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Paiements, versements de caisse, dettes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383280" y="347472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163B48"/>
          </a:solidFill>
          <a:ln w="12700">
            <a:solidFill>
              <a:srgbClr val="2F617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566160" y="3611880"/>
            <a:ext cx="2240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Responsable de site</a:t>
            </a:r>
            <a:endParaRPr lang="en-US" sz="1800" dirty="0"/>
          </a:p>
          <a:p>
            <a:pPr indent="0" marL="0">
              <a:buNone/>
            </a:pPr>
            <a:r>
              <a:rPr lang="en-US" sz="1350" dirty="0">
                <a:solidFill>
                  <a:srgbClr val="DC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Effectifs, commandes, menus, caisse, rapport du jour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217920" y="347472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163B48"/>
          </a:solidFill>
          <a:ln w="12700">
            <a:solidFill>
              <a:srgbClr val="2F617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0" y="3611880"/>
            <a:ext cx="2240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 de cuisine</a:t>
            </a:r>
            <a:endParaRPr lang="en-US" sz="1800" dirty="0"/>
          </a:p>
          <a:p>
            <a:pPr indent="0" marL="0">
              <a:buNone/>
            </a:pPr>
            <a:r>
              <a:rPr lang="en-US" sz="1350" dirty="0">
                <a:solidFill>
                  <a:srgbClr val="DC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Menus, bons de sortie, incidents, pertes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052560" y="347472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163B48"/>
          </a:solidFill>
          <a:ln w="12700">
            <a:solidFill>
              <a:srgbClr val="2F617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235440" y="3611880"/>
            <a:ext cx="2240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Magasinier</a:t>
            </a:r>
            <a:endParaRPr lang="en-US" sz="1800" dirty="0"/>
          </a:p>
          <a:p>
            <a:pPr indent="0" marL="0">
              <a:buNone/>
            </a:pPr>
            <a:r>
              <a:rPr lang="en-US" sz="1350" dirty="0">
                <a:solidFill>
                  <a:srgbClr val="DC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Réceptions, sorties, inventaires, pertes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4406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Droits réglables compte par compte : voir, modifier, montants d'achat, finances, exports. Les comptes de site ne voient que leurs sites.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restauration multi-sites  ·  © 2026 Rayane M.  ·  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D4E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Multilingue, à votre image</a:t>
            </a:r>
            <a:endParaRPr lang="en-US" sz="3400" dirty="0"/>
          </a:p>
        </p:txBody>
      </p:sp>
      <p:pic>
        <p:nvPicPr>
          <p:cNvPr id="3" name="Image 0" descr="/tmp/deck/img_horeca/langue-arabe_7x4.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6400800" cy="420624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pic>
      <p:pic>
        <p:nvPicPr>
          <p:cNvPr id="4" name="Image 1" descr="/tmp/deck/img_horeca/mobile_2.2x4.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417320"/>
            <a:ext cx="2011680" cy="420624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pic>
      <p:sp>
        <p:nvSpPr>
          <p:cNvPr id="5" name="Text 1"/>
          <p:cNvSpPr txBox="1"/>
          <p:nvPr/>
        </p:nvSpPr>
        <p:spPr>
          <a:xfrm>
            <a:off x="9464040" y="1463040"/>
            <a:ext cx="21945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Français · English · العربية</a:t>
            </a:r>
            <a:endParaRPr lang="en-US" sz="1500" dirty="0"/>
          </a:p>
          <a:p>
            <a:pPr indent="0" marL="0">
              <a:buNone/>
            </a:pPr>
            <a:r>
              <a:rPr lang="en-US" sz="13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Bascule en un clic, écriture de droite à gauche en arabe.</a:t>
            </a:r>
            <a:endParaRPr lang="en-US" sz="15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marque</a:t>
            </a:r>
            <a:endParaRPr lang="en-US" sz="1500" dirty="0"/>
          </a:p>
          <a:p>
            <a:pPr indent="0" marL="0">
              <a:buNone/>
            </a:pPr>
            <a:r>
              <a:rPr lang="en-US" sz="13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Logo, nom, couleurs, devise, mentions légales.</a:t>
            </a:r>
            <a:endParaRPr lang="en-US" sz="15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téléphone</a:t>
            </a:r>
            <a:endParaRPr lang="en-US" sz="1500" dirty="0"/>
          </a:p>
          <a:p>
            <a:pPr indent="0" marL="0">
              <a:buNone/>
            </a:pPr>
            <a:r>
              <a:rPr lang="en-US" sz="13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adaptée aux petits écrans.</a:t>
            </a:r>
            <a:endParaRPr lang="en-US" sz="15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restauration multi-sites  ·  © 2026 Rayane M.  ·  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D4E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Signature électronique nominative</a:t>
            </a:r>
            <a:endParaRPr lang="en-US" sz="3400" dirty="0"/>
          </a:p>
        </p:txBody>
      </p:sp>
      <p:pic>
        <p:nvPicPr>
          <p:cNvPr id="3" name="Image 0" descr="/tmp/deck/img_horeca/pdf-bon-sortie_5.7x5.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280160"/>
            <a:ext cx="5212080" cy="466344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548640" y="1554480"/>
            <a:ext cx="566928" cy="566928"/>
          </a:xfrm>
          <a:prstGeom prst="ellipse">
            <a:avLst/>
          </a:prstGeom>
          <a:solidFill>
            <a:srgbClr val="2A8F6F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91640"/>
            <a:ext cx="292608" cy="29260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325880" y="1499616"/>
            <a:ext cx="4800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Chacun signe avec son compte</a:t>
            </a:r>
            <a:endParaRPr lang="en-US" sz="1700" dirty="0"/>
          </a:p>
          <a:p>
            <a:pPr indent="0" marL="0">
              <a:buNone/>
            </a:pPr>
            <a:r>
              <a:rPr lang="en-US" sz="13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Seule la personne choisie peut signer en son nom : mot de passe personnel.</a:t>
            </a:r>
            <a:endParaRPr lang="en-US" sz="1700" dirty="0"/>
          </a:p>
        </p:txBody>
      </p:sp>
      <p:sp>
        <p:nvSpPr>
          <p:cNvPr id="7" name="Shape 3"/>
          <p:cNvSpPr/>
          <p:nvPr/>
        </p:nvSpPr>
        <p:spPr>
          <a:xfrm>
            <a:off x="548640" y="2926080"/>
            <a:ext cx="566928" cy="566928"/>
          </a:xfrm>
          <a:prstGeom prst="ellipse">
            <a:avLst/>
          </a:prstGeom>
          <a:solidFill>
            <a:srgbClr val="2A8F6F"/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63240"/>
            <a:ext cx="292608" cy="292608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325880" y="2871216"/>
            <a:ext cx="4800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Sceau infalsifiable</a:t>
            </a:r>
            <a:endParaRPr lang="en-US" sz="1700" dirty="0"/>
          </a:p>
          <a:p>
            <a:pPr indent="0" marL="0">
              <a:buNone/>
            </a:pPr>
            <a:r>
              <a:rPr lang="en-US" sz="13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Nom, poste, date et code de sceau imprimés sur chaque PDF.</a:t>
            </a:r>
            <a:endParaRPr lang="en-US" sz="1700" dirty="0"/>
          </a:p>
        </p:txBody>
      </p:sp>
      <p:sp>
        <p:nvSpPr>
          <p:cNvPr id="10" name="Shape 5"/>
          <p:cNvSpPr/>
          <p:nvPr/>
        </p:nvSpPr>
        <p:spPr>
          <a:xfrm>
            <a:off x="548640" y="4297680"/>
            <a:ext cx="566928" cy="566928"/>
          </a:xfrm>
          <a:prstGeom prst="ellipse">
            <a:avLst/>
          </a:prstGeom>
          <a:solidFill>
            <a:srgbClr val="2A8F6F"/>
          </a:solidFill>
          <a:ln/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434840"/>
            <a:ext cx="292608" cy="2926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325880" y="4242816"/>
            <a:ext cx="4800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Vérifiable à tout moment</a:t>
            </a:r>
            <a:endParaRPr lang="en-US" sz="1700" dirty="0"/>
          </a:p>
          <a:p>
            <a:pPr indent="0" marL="0">
              <a:buNone/>
            </a:pPr>
            <a:r>
              <a:rPr lang="en-US" sz="13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code saisi dans « Vérifier une signature » confirme le document.</a:t>
            </a:r>
            <a:endParaRPr lang="en-US" sz="1700" dirty="0"/>
          </a:p>
        </p:txBody>
      </p:sp>
      <p:sp>
        <p:nvSpPr>
          <p:cNvPr id="13" name="Text 7"/>
          <p:cNvSpPr txBox="1"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restauration multi-sites  ·  © 2026 Rayane M.  ·  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D4E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Mise en service guidée, accueil par profil</a:t>
            </a:r>
            <a:endParaRPr lang="en-US" sz="3400" dirty="0"/>
          </a:p>
        </p:txBody>
      </p:sp>
      <p:pic>
        <p:nvPicPr>
          <p:cNvPr id="3" name="Image 0" descr="/tmp/deck/img_horeca/assistant-entreprise_5.9x4.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5394960" cy="420624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pic>
      <p:pic>
        <p:nvPicPr>
          <p:cNvPr id="4" name="Image 1" descr="/tmp/deck/img_horeca/accueil-direction_5.9x4.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17320"/>
            <a:ext cx="5394960" cy="420624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pic>
      <p:sp>
        <p:nvSpPr>
          <p:cNvPr id="5" name="Text 1"/>
          <p:cNvSpPr txBox="1"/>
          <p:nvPr/>
        </p:nvSpPr>
        <p:spPr>
          <a:xfrm>
            <a:off x="548640" y="57150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d'installation : entreprise, logo, couleurs, premier site</a:t>
            </a:r>
            <a:endParaRPr lang="en-US" sz="1300" dirty="0"/>
          </a:p>
        </p:txBody>
      </p:sp>
      <p:sp>
        <p:nvSpPr>
          <p:cNvPr id="6" name="Text 2"/>
          <p:cNvSpPr txBox="1"/>
          <p:nvPr/>
        </p:nvSpPr>
        <p:spPr>
          <a:xfrm>
            <a:off x="6217920" y="57150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profil arrive sur ses propres chiffres et ses points à traiter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restauration multi-sites  ·  © 2026 Rayane M.  ·  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D4E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Installable sur téléphone et ordinateur</a:t>
            </a:r>
            <a:endParaRPr lang="en-US" sz="3400" dirty="0"/>
          </a:p>
        </p:txBody>
      </p:sp>
      <p:pic>
        <p:nvPicPr>
          <p:cNvPr id="3" name="Image 0" descr="/tmp/deck/img_horeca/installer_7.2x4.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6583680" cy="420624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7406640" y="1554480"/>
            <a:ext cx="566928" cy="566928"/>
          </a:xfrm>
          <a:prstGeom prst="ellipse">
            <a:avLst/>
          </a:prstGeom>
          <a:solidFill>
            <a:srgbClr val="2A8F6F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1691640"/>
            <a:ext cx="292608" cy="29260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8183880" y="1499616"/>
            <a:ext cx="3520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 une application</a:t>
            </a:r>
            <a:endParaRPr lang="en-US" sz="1700" dirty="0"/>
          </a:p>
          <a:p>
            <a:pPr indent="0" marL="0">
              <a:buNone/>
            </a:pPr>
            <a:r>
              <a:rPr lang="en-US" sz="1350" dirty="0">
                <a:solidFill>
                  <a:srgbClr val="CFE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icône sur l'écran d'accueil, plein écran, sans magasin d'applications.</a:t>
            </a:r>
            <a:endParaRPr lang="en-US" sz="1700" dirty="0"/>
          </a:p>
        </p:txBody>
      </p:sp>
      <p:sp>
        <p:nvSpPr>
          <p:cNvPr id="7" name="Shape 3"/>
          <p:cNvSpPr/>
          <p:nvPr/>
        </p:nvSpPr>
        <p:spPr>
          <a:xfrm>
            <a:off x="7406640" y="2926080"/>
            <a:ext cx="566928" cy="566928"/>
          </a:xfrm>
          <a:prstGeom prst="ellipse">
            <a:avLst/>
          </a:prstGeom>
          <a:solidFill>
            <a:srgbClr val="2A8F6F"/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3063240"/>
            <a:ext cx="292608" cy="292608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8183880" y="2871216"/>
            <a:ext cx="3520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Toujours à jour</a:t>
            </a:r>
            <a:endParaRPr lang="en-US" sz="1700" dirty="0"/>
          </a:p>
          <a:p>
            <a:pPr indent="0" marL="0">
              <a:buNone/>
            </a:pPr>
            <a:r>
              <a:rPr lang="en-US" sz="1350" dirty="0">
                <a:solidFill>
                  <a:srgbClr val="CFE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mise à jour pour tous les sites en même temps.</a:t>
            </a:r>
            <a:endParaRPr lang="en-US" sz="1700" dirty="0"/>
          </a:p>
        </p:txBody>
      </p:sp>
      <p:sp>
        <p:nvSpPr>
          <p:cNvPr id="10" name="Shape 5"/>
          <p:cNvSpPr/>
          <p:nvPr/>
        </p:nvSpPr>
        <p:spPr>
          <a:xfrm>
            <a:off x="7406640" y="4297680"/>
            <a:ext cx="566928" cy="566928"/>
          </a:xfrm>
          <a:prstGeom prst="ellipse">
            <a:avLst/>
          </a:prstGeom>
          <a:solidFill>
            <a:srgbClr val="2A8F6F"/>
          </a:solidFill>
          <a:ln/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4434840"/>
            <a:ext cx="292608" cy="2926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8183880" y="4242816"/>
            <a:ext cx="3520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Partout</a:t>
            </a:r>
            <a:endParaRPr lang="en-US" sz="1700" dirty="0"/>
          </a:p>
          <a:p>
            <a:pPr indent="0" marL="0">
              <a:buNone/>
            </a:pPr>
            <a:r>
              <a:rPr lang="en-US" sz="1350" dirty="0">
                <a:solidFill>
                  <a:srgbClr val="CFE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iPhone, Android, Windows, Mac : le même outil.</a:t>
            </a:r>
            <a:endParaRPr lang="en-US" sz="1700" dirty="0"/>
          </a:p>
        </p:txBody>
      </p:sp>
      <p:sp>
        <p:nvSpPr>
          <p:cNvPr id="13" name="Text 7"/>
          <p:cNvSpPr txBox="1"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restauration multi-sites  ·  © 2026 Rayane M.  ·  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D4E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à déployer, sûre par conception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566928" cy="566928"/>
          </a:xfrm>
          <a:prstGeom prst="ellipse">
            <a:avLst/>
          </a:prstGeom>
          <a:solidFill>
            <a:srgbClr val="2A8F6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83080"/>
            <a:ext cx="292608" cy="29260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25880" y="1591056"/>
            <a:ext cx="4617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serveur à gérer</a:t>
            </a:r>
            <a:endParaRPr lang="en-US" sz="1700" dirty="0"/>
          </a:p>
          <a:p>
            <a:pPr indent="0" marL="0">
              <a:buNone/>
            </a:pPr>
            <a:r>
              <a:rPr lang="en-US" sz="13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 sur Google Workspace : aucun matériel, aucune installation.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548640" y="3063240"/>
            <a:ext cx="566928" cy="566928"/>
          </a:xfrm>
          <a:prstGeom prst="ellipse">
            <a:avLst/>
          </a:prstGeom>
          <a:solidFill>
            <a:srgbClr val="2A8F6F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200400"/>
            <a:ext cx="292608" cy="29260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25880" y="3008376"/>
            <a:ext cx="4617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données restent chez vous</a:t>
            </a:r>
            <a:endParaRPr lang="en-US" sz="1700" dirty="0"/>
          </a:p>
          <a:p>
            <a:pPr indent="0" marL="0">
              <a:buNone/>
            </a:pPr>
            <a:r>
              <a:rPr lang="en-US" sz="13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feuille de calcul que vous possédez, sauvegardée et restaurable.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6309360" y="1645920"/>
            <a:ext cx="566928" cy="566928"/>
          </a:xfrm>
          <a:prstGeom prst="ellipse">
            <a:avLst/>
          </a:prstGeom>
          <a:solidFill>
            <a:srgbClr val="1D4E5F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783080"/>
            <a:ext cx="292608" cy="29260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7086600" y="1591056"/>
            <a:ext cx="4617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Droits appliqués côté serveur</a:t>
            </a:r>
            <a:endParaRPr lang="en-US" sz="1700" dirty="0"/>
          </a:p>
          <a:p>
            <a:pPr indent="0" marL="0">
              <a:buNone/>
            </a:pPr>
            <a:r>
              <a:rPr lang="en-US" sz="13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Mots de passe protégés, sessions limitées, un site ne voit jamais les autres.</a:t>
            </a:r>
            <a:endParaRPr lang="en-US" sz="1700" dirty="0"/>
          </a:p>
        </p:txBody>
      </p:sp>
      <p:sp>
        <p:nvSpPr>
          <p:cNvPr id="12" name="Shape 7"/>
          <p:cNvSpPr/>
          <p:nvPr/>
        </p:nvSpPr>
        <p:spPr>
          <a:xfrm>
            <a:off x="6309360" y="3063240"/>
            <a:ext cx="566928" cy="566928"/>
          </a:xfrm>
          <a:prstGeom prst="ellipse">
            <a:avLst/>
          </a:prstGeom>
          <a:solidFill>
            <a:srgbClr val="1D4E5F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3200400"/>
            <a:ext cx="292608" cy="292608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7086600" y="3008376"/>
            <a:ext cx="4617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Traçabilité</a:t>
            </a:r>
            <a:endParaRPr lang="en-US" sz="1700" dirty="0"/>
          </a:p>
          <a:p>
            <a:pPr indent="0" marL="0">
              <a:buNone/>
            </a:pPr>
            <a:r>
              <a:rPr lang="en-US" sz="13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action importante est enregistrée : qui, quand, quoi.</a:t>
            </a:r>
            <a:endParaRPr lang="en-US" sz="1700" dirty="0"/>
          </a:p>
        </p:txBody>
      </p:sp>
      <p:sp>
        <p:nvSpPr>
          <p:cNvPr id="15" name="Shape 9"/>
          <p:cNvSpPr/>
          <p:nvPr/>
        </p:nvSpPr>
        <p:spPr>
          <a:xfrm>
            <a:off x="548640" y="4663440"/>
            <a:ext cx="11091672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6" name="Text 10"/>
          <p:cNvSpPr txBox="1"/>
          <p:nvPr/>
        </p:nvSpPr>
        <p:spPr>
          <a:xfrm>
            <a:off x="868680" y="4800600"/>
            <a:ext cx="104515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Aide intégrée et manuel illustré : chaque écran est expliqué pas à pas, par rôle, avec recherche.</a:t>
            </a:r>
            <a:endParaRPr lang="en-US" sz="1800" dirty="0"/>
          </a:p>
        </p:txBody>
      </p:sp>
      <p:sp>
        <p:nvSpPr>
          <p:cNvPr id="17" name="Text 11"/>
          <p:cNvSpPr txBox="1"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restauration multi-sites  ·  © 2026 Rayane M.  ·  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D4E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Démarrer en quatre étapes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3F6F8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783080"/>
            <a:ext cx="822960" cy="822960"/>
          </a:xfrm>
          <a:prstGeom prst="ellipse">
            <a:avLst/>
          </a:prstGeom>
          <a:solidFill>
            <a:srgbClr val="1D4E5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83464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Importer vos produits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70332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fichier Excel : familles, unités, prix, seuils.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83280" y="155448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3F6F8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0" y="1783080"/>
            <a:ext cx="822960" cy="822960"/>
          </a:xfrm>
          <a:prstGeom prst="ellipse">
            <a:avLst/>
          </a:prstGeom>
          <a:solidFill>
            <a:srgbClr val="2A8F6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657600" y="1783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283464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Tester avec la démonstration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370332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prêtes et un compte par rôle, effaçables en un clic.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3F6F8"/>
          </a:solidFill>
          <a:ln/>
        </p:spPr>
      </p:sp>
      <p:sp>
        <p:nvSpPr>
          <p:cNvPr id="14" name="Shape 12"/>
          <p:cNvSpPr/>
          <p:nvPr/>
        </p:nvSpPr>
        <p:spPr>
          <a:xfrm>
            <a:off x="6492240" y="1783080"/>
            <a:ext cx="822960" cy="822960"/>
          </a:xfrm>
          <a:prstGeom prst="ellipse">
            <a:avLst/>
          </a:prstGeom>
          <a:solidFill>
            <a:srgbClr val="1D4E5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92240" y="1783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283464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Créer sites et utilisateurs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370332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Clients, effectifs du contrat, signataires, droits.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052560" y="155448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3F6F8"/>
          </a:solidFill>
          <a:ln/>
        </p:spPr>
      </p:sp>
      <p:sp>
        <p:nvSpPr>
          <p:cNvPr id="19" name="Shape 17"/>
          <p:cNvSpPr/>
          <p:nvPr/>
        </p:nvSpPr>
        <p:spPr>
          <a:xfrm>
            <a:off x="9326880" y="1783080"/>
            <a:ext cx="822960" cy="822960"/>
          </a:xfrm>
          <a:prstGeom prst="ellipse">
            <a:avLst/>
          </a:prstGeom>
          <a:solidFill>
            <a:srgbClr val="2A8F6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326880" y="1783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9326880" y="283464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Lancer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9326880" y="370332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avec le manuel ; sauvegarde avant le premier jour.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4406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fichier Excel des produits se met à jour aussi vite : exportez, corrigez les prix, réimportez.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restauration multi-sites  ·  © 2026 Rayane M.  ·  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D4E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0"/>
            <a:ext cx="7315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Prêt à voir vos cuisines,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restaurants et hôtels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 même endroit ?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02336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FE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 en ligne, avec vos produits, vos sites et vos rôles.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5029200"/>
            <a:ext cx="5852160" cy="685800"/>
          </a:xfrm>
          <a:prstGeom prst="roundRect">
            <a:avLst>
              <a:gd name="adj" fmla="val 16000"/>
            </a:avLst>
          </a:prstGeom>
          <a:solidFill>
            <a:srgbClr val="F0B42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5029200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0670779792  ·  rayanem@gmail.com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8521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Rayane Redha Madani — Rayane M.</a:t>
            </a:r>
            <a:endParaRPr lang="en-US" sz="1500" dirty="0"/>
          </a:p>
        </p:txBody>
      </p:sp>
      <p:pic>
        <p:nvPicPr>
          <p:cNvPr id="7" name="Image 0" descr="/tmp/deck/img_horeca/connexion_4.2x4.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463040"/>
            <a:ext cx="3840480" cy="402336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Gestion de restauration multi-sites</dc:title>
  <dc:subject>PptxGenJS Presentation</dc:subject>
  <dc:creator>Rayane M.</dc:creator>
  <cp:lastModifiedBy>Rayane M.</cp:lastModifiedBy>
  <cp:revision>1</cp:revision>
  <dcterms:created xsi:type="dcterms:W3CDTF">2026-10-04T10:13:15Z</dcterms:created>
  <dcterms:modified xsi:type="dcterms:W3CDTF">2026-10-04T10:13:15Z</dcterms:modified>
</cp:coreProperties>
</file>