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2296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83464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300"/>
              </a:spcAft>
            </a:pPr>
            <a:r>
              <a:rPr sz="6600" b="1">
                <a:solidFill>
                  <a:srgbClr val="1E5AA8"/>
                </a:solidFill>
                <a:latin typeface="Arial"/>
              </a:rPr>
              <a:t>بومبا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spcAft>
                <a:spcPts val="1400"/>
              </a:spcAft>
            </a:pPr>
            <a:r>
              <a:rPr sz="2800" b="1">
                <a:solidFill>
                  <a:srgbClr val="F58220"/>
                </a:solidFill>
                <a:latin typeface="Arial"/>
              </a:rPr>
              <a:t>كل لتر محسوب، وكل دينار معلوم.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800600"/>
            <a:ext cx="9052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spcAft>
                <a:spcPts val="1000"/>
              </a:spcAft>
            </a:pPr>
            <a:r>
              <a:rPr sz="2000" b="0">
                <a:solidFill>
                  <a:srgbClr val="5F7189"/>
                </a:solidFill>
                <a:latin typeface="Arial"/>
              </a:rPr>
              <a:t>تسيير محطة الوقود الخاصة بك، ببساطة وجمال وفي جيبك.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7189"/>
                </a:solidFill>
                <a:latin typeface="Arial"/>
              </a:rPr>
              <a:t>الإصدار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يوميات المحطة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فوارق في الصندوق لا يفسّرها أحد  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وقود يختفي بين التوريد والمضخة  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توريدات لا يُتحقق منها أبدًا : مفوتر أم مستلم فعلًا ؟  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مخزون الزيوت والمرشحات يُعدّ « بالعين »  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2200" b="0">
                <a:solidFill>
                  <a:srgbClr val="13233A"/>
                </a:solidFill>
                <a:latin typeface="Arial"/>
              </a:rPr>
              <a:t>لا رؤية واضحة حين يغيب المسيّر  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بومبا : كل شيء تحت المراقبة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⏱️  مناوبات عمال المضخات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قراءة بداية ونهاية كل مسدس، والمبلغ المسلَّم (نقدًا، بطاقة، قسائم) : فارق الصندوق يُحسب تلقائيًا.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🛢️  خزانات تحت المراقبة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المخزون النظري والقياس الفعلي وتنبيه فور ظهور فارق أو مستوى منخفض.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🚚  توريدات موثّقة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3172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وصل التسليم ومقارنة الحجم المفوتر بالحجم المستلم وديون الموردين.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📦  مخزون صغير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زيوت ومرشحات ومستهلكات : مبيعات المحل مرتبطة بالمناوبة وتنبيهات المخزون المنخفض.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📈  أرقام واضحة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اللترات والإيرادات والخسائر والهامش المقدّر، حسب عامل المضخة وحسب الوقود ؛ تصدير إلى Excel.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1">
                <a:solidFill>
                  <a:srgbClr val="1E5AA8"/>
                </a:solidFill>
                <a:latin typeface="Arial"/>
              </a:rPr>
              <a:t>📱  على هاتفك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400" b="0">
                <a:solidFill>
                  <a:srgbClr val="13233A"/>
                </a:solidFill>
                <a:latin typeface="Arial"/>
              </a:rPr>
              <a:t>قابل للتثبيت كتطبيق، بالفرنسية والعربية والإنجليزية.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المسيّر يرى كل شيء بنظرة واحدة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02-tableau-de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قراءة بداية ونهاية كل مسدس، والمبلغ المسلَّم (نقدًا، بطاقة، قسائم) : فارق الصندوق يُحسب تلقائيًا.</a:t>
            </a:r>
          </a:p>
          <a:p>
            <a:pPr algn="r" rtl="1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المخزون النظري والقياس الفعلي وتنبيه فور ظهور فارق أو مستوى منخفض.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عامل المضخة : دقيقتان وكل شيء موجَّه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m2-ouvrir-p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045169"/>
            <a:ext cx="2697480" cy="368206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m4-vente-compto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38615"/>
            <a:ext cx="2697480" cy="2495169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9" name="Picture 8" descr="m5-cloturer-po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087" y="1508760"/>
            <a:ext cx="2505865" cy="475488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1480" y="2011680"/>
            <a:ext cx="26517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600" b="0">
                <a:solidFill>
                  <a:srgbClr val="13233A"/>
                </a:solidFill>
                <a:latin typeface="Arial"/>
              </a:rPr>
              <a:t>يفتح مناوبته ويقرأ العدّادات ويبيع في المحل ويغلق : كل شيء موجَّه، في دقيقتين.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الخزانات والتوريدات تحت المراقبة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05-cu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577840" cy="348615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pic>
        <p:nvPicPr>
          <p:cNvPr id="8" name="Picture 7" descr="08-livraison-nouve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37" y="1508760"/>
            <a:ext cx="3844324" cy="45720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63640" y="5257800"/>
            <a:ext cx="55778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750"/>
              </a:spcAft>
            </a:pPr>
            <a:r>
              <a:rPr sz="1500" b="0">
                <a:solidFill>
                  <a:srgbClr val="13233A"/>
                </a:solidFill>
                <a:latin typeface="Arial"/>
              </a:rPr>
              <a:t>المخزون النظري والقياس الفعلي وتنبيه فور ظهور فارق أو مستوى منخفض.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أرقام واضحة، حسب عامل المضخة وحسب الوقود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10-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8760"/>
            <a:ext cx="6766560" cy="4229100"/>
          </a:xfrm>
          <a:prstGeom prst="rect">
            <a:avLst/>
          </a:prstGeom>
          <a:ln w="12700">
            <a:solidFill>
              <a:srgbClr val="DCE5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173736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اللترات والإيرادات والخسائر والهامش المقدّر، حسب عامل المضخة وحسب الوقود ؛ تصدير إلى Excel.</a:t>
            </a:r>
          </a:p>
          <a:p>
            <a:pPr algn="r" rtl="1">
              <a:spcAft>
                <a:spcPts val="850"/>
              </a:spcAft>
            </a:pPr>
            <a:r>
              <a:rPr sz="1700" b="0">
                <a:solidFill>
                  <a:srgbClr val="13233A"/>
                </a:solidFill>
                <a:latin typeface="Arial"/>
              </a:rPr>
              <a:t>زيوت ومرشحات ومستهلكات : مبيعات المحل مرتبطة بالمناوبة وتنبيهات المخزون المنخفض.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كل شخص يرى ما يخصّه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59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عامل المضخة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يفتح مناوبته ويقرأ العدّادات ويبيع في المحل ويغلق : كل شيء موجَّه، في دقيقتين.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المسؤول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يتابع المناوبات ويجري القياسات ويسجّل التوريدات ويسيّر المخزون.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1737360"/>
            <a:ext cx="3566160" cy="1097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1031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المسيّر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926080"/>
            <a:ext cx="32004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800" b="0">
                <a:solidFill>
                  <a:srgbClr val="13233A"/>
                </a:solidFill>
                <a:latin typeface="Arial"/>
              </a:rPr>
              <a:t>يرى كل شيء ويحدّد الأسعار وينشئ الفريق ويقرأ التقارير، أينما كان.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طريقتان للاستضافة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نسخة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استضافة مجانية : Google Apps Script و Google Sheets. لا شيء يُثبَّت على خادم.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28800"/>
            <a:ext cx="512064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94560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3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نسخة PHP /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466344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950"/>
              </a:spcAft>
            </a:pPr>
            <a:r>
              <a:rPr sz="1900" b="0">
                <a:solidFill>
                  <a:srgbClr val="13233A"/>
                </a:solidFill>
                <a:latin typeface="Arial"/>
              </a:rPr>
              <a:t>على الاستضافة التي تختارها : بياناتك عندك.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600" b="0">
                <a:solidFill>
                  <a:srgbClr val="5F7189"/>
                </a:solidFill>
                <a:latin typeface="Arial"/>
              </a:rPr>
              <a:t>تحديثات تلقائية · بياناتك ملك لك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1700"/>
              </a:spcAft>
            </a:pPr>
            <a:r>
              <a:rPr sz="3400" b="1">
                <a:solidFill>
                  <a:srgbClr val="1E5AA8"/>
                </a:solidFill>
                <a:latin typeface="Arial"/>
              </a:rPr>
              <a:t>لماذا بومبا 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188720"/>
            <a:ext cx="640080" cy="6400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 rtl="1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بومبا · الإصدار 1.0.0 · © 2026 JawlaDev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5F7189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صُمّم بمشاركة مسيّري المحطات  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لا حاجة إلى تكوين طويل : المساعدة داخل التطبيق  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بياناتك ملك لك  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463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59"/>
            <a:ext cx="996696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>
                <a:solidFill>
                  <a:srgbClr val="13233A"/>
                </a:solidFill>
                <a:latin typeface="Arial"/>
              </a:rPr>
              <a:t>تحديثات تلقائية  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 rtl="1">
              <a:spcAft>
                <a:spcPts val="19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تجربة مجانية : نجهّز محطتك في 24 ساعة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219456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3172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https://rayanem-dev.github.io/pompa/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900"/>
              </a:spcAft>
            </a:pPr>
            <a:r>
              <a:rPr sz="1800" b="1">
                <a:solidFill>
                  <a:srgbClr val="FFD9B0"/>
                </a:solidFill>
                <a:latin typeface="Arial"/>
              </a:rPr>
              <a:t>Rayane Redha Madani — Rayane M. · ☎ 0670779792 · ✉ rayanem@gmail.com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