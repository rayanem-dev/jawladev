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Boutika presentation to shop owners (about 12 minutes), live demo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a live demo, then open the trial request with the shop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7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2194560" cy="2194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1371600"/>
            <a:ext cx="7863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F28C28"/>
                </a:solidFill>
                <a:latin typeface="Cambria"/>
              </a:rPr>
              <a:t>Boutika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65176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mbria"/>
              </a:rPr>
              <a:t>Run your shop simply and beautifully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402336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CEBCB"/>
                </a:solidFill>
                <a:latin typeface="Calibri"/>
              </a:rPr>
              <a:t>Checkout · stock · delivery · customer credit · figures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A6C98A"/>
                </a:solidFill>
                <a:latin typeface="Calibri"/>
              </a:rPr>
              <a:t>Kiosk · Cosmetics · Food &amp; grocery — in French, Arabic and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Today, shops are run “by hand”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19" y="196596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20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A notebook for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7776A"/>
                </a:solidFill>
                <a:latin typeface="Calibri"/>
              </a:rPr>
              <a:t>Hand calculations, till errors, no view of profit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37959" y="196596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202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Stock “in your head”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7776A"/>
                </a:solidFill>
                <a:latin typeface="Calibri"/>
              </a:rPr>
              <a:t>Stock-outs found too late, expired products thrown away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19" y="411480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06907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Deliveries by 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6177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7776A"/>
                </a:solidFill>
                <a:latin typeface="Calibri"/>
              </a:rPr>
              <a:t>Drivers' cash hard to track, addresses lost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59" y="4114800"/>
            <a:ext cx="566928" cy="56692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069079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Forgotten credit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61772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7776A"/>
                </a:solidFill>
                <a:latin typeface="Calibri"/>
              </a:rPr>
              <a:t>Who owes what, since when? No reminders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3F7D1E"/>
                </a:solidFill>
                <a:latin typeface="Calibri"/>
              </a:rPr>
              <a:t>Result: lost time, lost money and lost goods.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Boutika: one space for the whole shop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4208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4470F"/>
                </a:solidFill>
                <a:latin typeface="Calibri"/>
              </a:rPr>
              <a:t>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67776A"/>
                </a:solidFill>
                <a:latin typeface="Calibri"/>
              </a:rPr>
              <a:t>Sees everything: figures, stock, team, settings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53128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4470F"/>
                </a:solidFill>
                <a:latin typeface="Calibri"/>
              </a:rPr>
              <a:t>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67776A"/>
                </a:solidFill>
                <a:latin typeface="Calibri"/>
              </a:rPr>
              <a:t>Stock, purchases, expenses and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42048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4470F"/>
                </a:solidFill>
                <a:latin typeface="Calibri"/>
              </a:rPr>
              <a:t>Seller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67776A"/>
                </a:solidFill>
                <a:latin typeface="Calibri"/>
              </a:rPr>
              <a:t>Checkout, customers, own sales — without seeing margins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645920"/>
            <a:ext cx="26060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30967" y="1920240"/>
            <a:ext cx="566928" cy="566928"/>
          </a:xfrm>
          <a:prstGeom prst="ellipse">
            <a:avLst/>
          </a:prstGeom>
          <a:solidFill>
            <a:srgbClr val="244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28C28"/>
                </a:solidFill>
                <a:latin typeface="Calibri"/>
              </a:rP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74320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4470F"/>
                </a:solidFill>
                <a:latin typeface="Calibri"/>
              </a:rPr>
              <a:t>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2918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67776A"/>
                </a:solidFill>
                <a:latin typeface="Calibri"/>
              </a:rPr>
              <a:t>His runs: call, directions, collect, report a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2A1E"/>
                </a:solidFill>
                <a:latin typeface="Calibri"/>
              </a:rPr>
              <a:t>Everyone signs in with their own account and only sees what concerns them. Installable on phone, tablet and computer — no hardware to buy.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A fast touch checkout that scans</a:t>
            </a:r>
          </a:p>
        </p:txBody>
      </p:sp>
      <p:pic>
        <p:nvPicPr>
          <p:cNvPr id="3" name="Picture 2" descr="20-cai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766560" cy="42291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4" name="Oval 3"/>
          <p:cNvSpPr/>
          <p:nvPr/>
        </p:nvSpPr>
        <p:spPr>
          <a:xfrm>
            <a:off x="7772400" y="169164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39327" y="167335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Tap or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9327" y="196596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USB reader or phone camera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254203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Cash, card, CCP or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2834639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automatic change</a:t>
            </a:r>
          </a:p>
        </p:txBody>
      </p:sp>
      <p:sp>
        <p:nvSpPr>
          <p:cNvPr id="10" name="Oval 9"/>
          <p:cNvSpPr/>
          <p:nvPr/>
        </p:nvSpPr>
        <p:spPr>
          <a:xfrm>
            <a:off x="7772400" y="342900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341071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Sold by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370332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kg, g, litres: 2.5 kg in one tap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429768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427939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Printable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457200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80 mm, with VAT if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Delivery, from basket to cash received</a:t>
            </a:r>
          </a:p>
        </p:txBody>
      </p:sp>
      <p:pic>
        <p:nvPicPr>
          <p:cNvPr id="3" name="Picture 2" descr="40-livrai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4290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m-40-cour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0"/>
            <a:ext cx="2154907" cy="466344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Fees per wilaya, free delivery above an amount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Cash on delivery or already paid (CCP, card)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Cash handover: know how much each driver owes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Stock under control, no waste</a:t>
            </a:r>
          </a:p>
        </p:txBody>
      </p:sp>
      <p:pic>
        <p:nvPicPr>
          <p:cNvPr id="3" name="Picture 2" descr="50-stock-ale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766560" cy="42291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4" name="Oval 3"/>
          <p:cNvSpPr/>
          <p:nvPr/>
        </p:nvSpPr>
        <p:spPr>
          <a:xfrm>
            <a:off x="7772400" y="169164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39327" y="167335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Automatic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9327" y="196596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out of stock, low stock, expiring soon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256032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254203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Inventory in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2834639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only differences are recorded</a:t>
            </a:r>
          </a:p>
        </p:txBody>
      </p:sp>
      <p:sp>
        <p:nvSpPr>
          <p:cNvPr id="10" name="Oval 9"/>
          <p:cNvSpPr/>
          <p:nvPr/>
        </p:nvSpPr>
        <p:spPr>
          <a:xfrm>
            <a:off x="7772400" y="342900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341071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Purchases and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370332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average cost, debts tracked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429768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4279392"/>
            <a:ext cx="34564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Movement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4572000"/>
            <a:ext cx="3456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who did what,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Customer credit and suppliers under control</a:t>
            </a:r>
          </a:p>
        </p:txBody>
      </p:sp>
      <p:pic>
        <p:nvPicPr>
          <p:cNvPr id="3" name="Picture 2" descr="61-client-fi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94960" cy="33718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56-achat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94960" cy="33718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Customer file: purchases, balance due, payments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WhatsApp reminder in one tap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502920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Purchase: stock and cost updated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Supplier debts visible and payable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Clear figures, day after day</a:t>
            </a:r>
          </a:p>
        </p:txBody>
      </p:sp>
      <p:pic>
        <p:nvPicPr>
          <p:cNvPr id="3" name="Picture 2" descr="10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36576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71-rap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63040"/>
            <a:ext cx="4937760" cy="30861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93776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Sales and profit for the day and the month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Best products, result after expenses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49377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1E"/>
                </a:solidFill>
                <a:latin typeface="Calibri"/>
              </a:rPr>
              <a:t>Reports by day, category, seller, payment method</a:t>
            </a:r>
          </a:p>
          <a:p>
            <a:pPr algn="l">
              <a:spcBef>
                <a:spcPts val="720"/>
              </a:spcBef>
            </a:pPr>
            <a:r>
              <a:rPr sz="1600" b="0" i="0">
                <a:solidFill>
                  <a:srgbClr val="1B2A1E"/>
                </a:solidFill>
                <a:latin typeface="Calibri"/>
              </a:rPr>
              <a:t>CSV export for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Universal: a template for every business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1B2A1E"/>
                </a:solidFill>
                <a:latin typeface="Calibri"/>
              </a:rPr>
              <a:t>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24470F"/>
                </a:solidFill>
                <a:latin typeface="Calibri"/>
              </a:rPr>
              <a:t>Kiosk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7776A"/>
                </a:solidFill>
                <a:latin typeface="Calibri"/>
              </a:rPr>
              <a:t>Drinks, snacks, top-ups, press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1B2A1E"/>
                </a:solidFill>
                <a:latin typeface="Calibri"/>
              </a:rPr>
              <a:t>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24470F"/>
                </a:solidFill>
                <a:latin typeface="Calibri"/>
              </a:rPr>
              <a:t>Cosmetics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7776A"/>
                </a:solidFill>
                <a:latin typeface="Calibri"/>
              </a:rPr>
              <a:t>Shades, variants, expiry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1B2A1E"/>
                </a:solidFill>
                <a:latin typeface="Calibri"/>
              </a:rPr>
              <a:t>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24470F"/>
                </a:solidFill>
                <a:latin typeface="Calibri"/>
              </a:rPr>
              <a:t>Food &amp; grocery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7776A"/>
                </a:solidFill>
                <a:latin typeface="Calibri"/>
              </a:rPr>
              <a:t>Sold by weight, expiry 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5544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1737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1B2A1E"/>
                </a:solidFill>
                <a:latin typeface="Calibri"/>
              </a:rPr>
              <a:t>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5603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24470F"/>
                </a:solidFill>
                <a:latin typeface="Calibri"/>
              </a:rPr>
              <a:t>General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0632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7776A"/>
                </a:solidFill>
                <a:latin typeface="Calibri"/>
              </a:rPr>
              <a:t>Any other retail business</a:t>
            </a:r>
          </a:p>
        </p:txBody>
      </p:sp>
      <p:pic>
        <p:nvPicPr>
          <p:cNvPr id="19" name="Picture 18" descr="11-bien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0"/>
            <a:ext cx="3438144" cy="214884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669280" y="429768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2A1E"/>
                </a:solidFill>
                <a:latin typeface="Calibri"/>
              </a:rPr>
              <a:t>At first launch, one choice is enough: categories, options and sample products are prepared.</a:t>
            </a:r>
          </a:p>
          <a:p>
            <a:pPr algn="l">
              <a:spcBef>
                <a:spcPts val="765"/>
              </a:spcBef>
            </a:pPr>
            <a:r>
              <a:rPr sz="1700" b="0" i="0">
                <a:solidFill>
                  <a:srgbClr val="1B2A1E"/>
                </a:solidFill>
                <a:latin typeface="Calibri"/>
              </a:rPr>
              <a:t>Everything remains editable afterwards.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On the phone, like a real app</a:t>
            </a:r>
          </a:p>
        </p:txBody>
      </p:sp>
      <p:pic>
        <p:nvPicPr>
          <p:cNvPr id="3" name="Picture 2" descr="m-20-cai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2197160" cy="475488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m-21-pan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63040"/>
            <a:ext cx="2197160" cy="475488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Oval 4"/>
          <p:cNvSpPr/>
          <p:nvPr/>
        </p:nvSpPr>
        <p:spPr>
          <a:xfrm>
            <a:off x="6766560" y="173736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3488" y="1719072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Installable in one tap</a:t>
            </a:r>
          </a:p>
        </p:txBody>
      </p:sp>
      <p:sp>
        <p:nvSpPr>
          <p:cNvPr id="7" name="Oval 6"/>
          <p:cNvSpPr/>
          <p:nvPr/>
        </p:nvSpPr>
        <p:spPr>
          <a:xfrm>
            <a:off x="6766560" y="2345436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2327148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Checkout and camera scanning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2953512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935224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Thumb-friendly bottom menu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3561588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3543300"/>
            <a:ext cx="43708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Dark mode, right-to-left Arabic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French, Arabic, English — on every screen</a:t>
            </a:r>
          </a:p>
        </p:txBody>
      </p:sp>
      <p:pic>
        <p:nvPicPr>
          <p:cNvPr id="3" name="Picture 2" descr="10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029200" cy="31432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pic>
        <p:nvPicPr>
          <p:cNvPr id="4" name="Picture 3" descr="75-somb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029200" cy="314325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48920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Right-to-left Arabic, matching numbers and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489204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Light or dark mode, each person's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C98A"/>
                </a:solidFill>
                <a:latin typeface="Calibri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A6C9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For the publisher: sell to many shops</a:t>
            </a:r>
          </a:p>
        </p:txBody>
      </p:sp>
      <p:pic>
        <p:nvPicPr>
          <p:cNvPr id="3" name="Picture 2" descr="90-bout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852160" cy="3657600"/>
          </a:xfrm>
          <a:prstGeom prst="rect">
            <a:avLst/>
          </a:prstGeom>
          <a:ln w="9525">
            <a:solidFill>
              <a:srgbClr val="C9D4BD"/>
            </a:solidFill>
          </a:ln>
        </p:spPr>
      </p:pic>
      <p:sp>
        <p:nvSpPr>
          <p:cNvPr id="4" name="Oval 3"/>
          <p:cNvSpPr/>
          <p:nvPr/>
        </p:nvSpPr>
        <p:spPr>
          <a:xfrm>
            <a:off x="6858000" y="169164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4927" y="167335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One shop = one separate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4927" y="1965960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company code, manager, welcome message</a:t>
            </a:r>
          </a:p>
        </p:txBody>
      </p:sp>
      <p:sp>
        <p:nvSpPr>
          <p:cNvPr id="7" name="Oval 6"/>
          <p:cNvSpPr/>
          <p:nvPr/>
        </p:nvSpPr>
        <p:spPr>
          <a:xfrm>
            <a:off x="6858000" y="256032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7" y="254203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Licence and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834639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trial, active, suspended — immediate effect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342900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7" y="341071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Free trials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3703320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requests received and converted in one click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4297680"/>
            <a:ext cx="384048" cy="38404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427939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4470F"/>
                </a:solidFill>
                <a:latin typeface="Calibri"/>
              </a:rPr>
              <a:t>Remote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4572000"/>
            <a:ext cx="4279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enter a shop, logged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Your data is protected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One space per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No data mixed between shops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Rights per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Everyone only sees their own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Protected passwords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46888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Salted hash, lock after repeated attempts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Logged support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Never with publisher rights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Hosting of your 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Google Apps Script or PHP / MySQL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114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4470F"/>
                </a:solidFill>
                <a:latin typeface="Calibri"/>
              </a:rPr>
              <a:t>Exportable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70916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CSV, database backup at any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4470F"/>
                </a:solidFill>
                <a:latin typeface="Cambria"/>
              </a:rPr>
              <a:t>Start in three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Request your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A form on the Boutika home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63440" y="19202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We prepare your 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Accounts, categories, products: we guide you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645920"/>
            <a:ext cx="352044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4320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4470F"/>
                </a:solidFill>
                <a:latin typeface="Calibri"/>
              </a:rPr>
              <a:t>You sell, we follow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47472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7776A"/>
                </a:solidFill>
                <a:latin typeface="Calibri"/>
              </a:rPr>
              <a:t>In-app help and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F7D1E"/>
                </a:solidFill>
                <a:latin typeface="Calibri"/>
              </a:rPr>
              <a:t>Plans: monthly · yearly · one-time payment — prices on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2A1E"/>
                </a:solidFill>
                <a:latin typeface="Calibri"/>
              </a:rPr>
              <a:t>Free trial with no commitment: every feature, with your real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7776A"/>
                </a:solidFill>
                <a:latin typeface="Calibri"/>
              </a:rPr>
              <a:t>Boutika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7776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28C28"/>
                </a:solidFill>
                <a:latin typeface="Cambria"/>
              </a:rPr>
              <a:t>Try Boutika in your 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Home page and trial request: rayanem-dev.github.io/boutika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CEBCB"/>
                </a:solidFill>
                <a:latin typeface="Calibri"/>
              </a:rPr>
              <a:t>Rayane Redha Madani — Rayane M., publisher of Boutika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0670779792  ·  rayanem@gmail.com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28C28"/>
                </a:solidFill>
                <a:latin typeface="Calibri"/>
              </a:rPr>
              <a:t>Boutika — your shop, simple and beautiful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6C98A"/>
                </a:solidFill>
                <a:latin typeface="Calibri"/>
              </a:rPr>
              <a:t>Boutika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A6C9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