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عرض بوتيكا على التجار (حوالي 12 دقيقة) مع عرض مباشر في النهاية.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اقتراح عرض مباشر ثم فتح طلب التجربة مع التاجر.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47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4175" y="1371600"/>
            <a:ext cx="2194560" cy="2194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70255" y="1371600"/>
            <a:ext cx="78638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rtl="1" algn="r"/>
            <a:r>
              <a:rPr sz="6700" b="1" i="0">
                <a:solidFill>
                  <a:srgbClr val="F28C28"/>
                </a:solidFill>
                <a:latin typeface="Arial"/>
              </a:rPr>
              <a:t>Boutika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135" y="2651760"/>
            <a:ext cx="7680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3100" b="0" i="0">
                <a:solidFill>
                  <a:srgbClr val="FFFFFF"/>
                </a:solidFill>
                <a:latin typeface="Arial"/>
              </a:rPr>
              <a:t>تسيير متجرك ببساطة وجمال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135" y="4023360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2100" b="0" i="0">
                <a:solidFill>
                  <a:srgbClr val="DCEBCB"/>
                </a:solidFill>
                <a:latin typeface="Arial"/>
              </a:rPr>
              <a:t>صندوق · مخزون · توصيل · ديون الزبائن · أرقام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943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500" b="0" i="0">
                <a:solidFill>
                  <a:srgbClr val="A6C98A"/>
                </a:solidFill>
                <a:latin typeface="Arial"/>
              </a:rPr>
              <a:t>كشك · مستحضرات تجميل · مواد غذائية — بالعربية والفرنسية والإنجليزية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255" y="4114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rtl="1" algn="r"/>
            <a:r>
              <a:rPr sz="3500" b="1" i="0">
                <a:solidFill>
                  <a:srgbClr val="24470F"/>
                </a:solidFill>
                <a:latin typeface="Arial"/>
              </a:rPr>
              <a:t>اليوم، يُسيَّر المتجر «يدوياً»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48095" y="1600200"/>
            <a:ext cx="53035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64647" y="1965960"/>
            <a:ext cx="566928" cy="56692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22415" y="1920240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2100" b="1" i="0">
                <a:solidFill>
                  <a:srgbClr val="24470F"/>
                </a:solidFill>
                <a:latin typeface="Arial"/>
              </a:rPr>
              <a:t>دفتر للمبيعات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22415" y="2468880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700" b="0" i="0">
                <a:solidFill>
                  <a:srgbClr val="67776A"/>
                </a:solidFill>
                <a:latin typeface="Arial"/>
              </a:rPr>
              <a:t>حسابات يدوية وأخطاء في الصندوق ولا رؤية للربح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0255" y="1600200"/>
            <a:ext cx="53035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086807" y="1965960"/>
            <a:ext cx="566928" cy="56692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575" y="1920240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2100" b="1" i="0">
                <a:solidFill>
                  <a:srgbClr val="24470F"/>
                </a:solidFill>
                <a:latin typeface="Arial"/>
              </a:rPr>
              <a:t>مخزون «في الرأس»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4575" y="2468880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700" b="0" i="0">
                <a:solidFill>
                  <a:srgbClr val="67776A"/>
                </a:solidFill>
                <a:latin typeface="Arial"/>
              </a:rPr>
              <a:t>نفاد يُكتشف متأخراً ومنتجات منتهية تُرمى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3749039"/>
            <a:ext cx="53035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64647" y="4114800"/>
            <a:ext cx="566928" cy="56692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2415" y="4069079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2100" b="1" i="0">
                <a:solidFill>
                  <a:srgbClr val="24470F"/>
                </a:solidFill>
                <a:latin typeface="Arial"/>
              </a:rPr>
              <a:t>توصيلات بالهاتف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415" y="4617720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700" b="0" i="0">
                <a:solidFill>
                  <a:srgbClr val="67776A"/>
                </a:solidFill>
                <a:latin typeface="Arial"/>
              </a:rPr>
              <a:t>يصعب تتبع أموال الموصّلين وتضيع العناوين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0255" y="3749039"/>
            <a:ext cx="53035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086807" y="4114800"/>
            <a:ext cx="566928" cy="56692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575" y="4069079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2100" b="1" i="0">
                <a:solidFill>
                  <a:srgbClr val="24470F"/>
                </a:solidFill>
                <a:latin typeface="Arial"/>
              </a:rPr>
              <a:t>ديون منسية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4575" y="4617720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700" b="0" i="0">
                <a:solidFill>
                  <a:srgbClr val="67776A"/>
                </a:solidFill>
                <a:latin typeface="Arial"/>
              </a:rPr>
              <a:t>من عليه كم ومنذ متى؟ بلا تذكير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0255" y="59893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800" b="0" i="0">
                <a:solidFill>
                  <a:srgbClr val="3F7D1E"/>
                </a:solidFill>
                <a:latin typeface="Arial"/>
              </a:rPr>
              <a:t>النتيجة: وقت ضائع وخسائر في المال والبضاعة.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l"/>
            <a:r>
              <a:rPr sz="1200" b="0" i="0">
                <a:solidFill>
                  <a:srgbClr val="67776A"/>
                </a:solidFill>
                <a:latin typeface="Arial"/>
              </a:rPr>
              <a:t>Boutika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200" b="0" i="0">
                <a:solidFill>
                  <a:srgbClr val="67776A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255" y="4114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rtl="1" algn="r"/>
            <a:r>
              <a:rPr sz="3500" b="1" i="0">
                <a:solidFill>
                  <a:srgbClr val="24470F"/>
                </a:solidFill>
                <a:latin typeface="Arial"/>
              </a:rPr>
              <a:t>بوتيكا: فضاء واحد لكل المتجر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945575" y="1645920"/>
            <a:ext cx="260604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0559" y="1920240"/>
            <a:ext cx="566928" cy="566928"/>
          </a:xfrm>
          <a:prstGeom prst="ellipse">
            <a:avLst/>
          </a:prstGeom>
          <a:solidFill>
            <a:srgbClr val="244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28C28"/>
                </a:solidFill>
                <a:latin typeface="Arial"/>
              </a:rPr>
              <a:t>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28455" y="274320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ctr"/>
            <a:r>
              <a:rPr sz="2100" b="1" i="0">
                <a:solidFill>
                  <a:srgbClr val="24470F"/>
                </a:solidFill>
                <a:latin typeface="Arial"/>
              </a:rPr>
              <a:t>المسيّر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74175" y="3291840"/>
            <a:ext cx="2148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ctr"/>
            <a:r>
              <a:rPr sz="1600" b="0" i="0">
                <a:solidFill>
                  <a:srgbClr val="67776A"/>
                </a:solidFill>
                <a:latin typeface="Arial"/>
              </a:rPr>
              <a:t>يرى كل شيء: الأرقام والمخزون والفريق والإعدادات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6655" y="1645920"/>
            <a:ext cx="260604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71639" y="1920240"/>
            <a:ext cx="566928" cy="566928"/>
          </a:xfrm>
          <a:prstGeom prst="ellipse">
            <a:avLst/>
          </a:prstGeom>
          <a:solidFill>
            <a:srgbClr val="244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28C28"/>
                </a:solidFill>
                <a:latin typeface="Arial"/>
              </a:rPr>
              <a:t>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9535" y="274320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ctr"/>
            <a:r>
              <a:rPr sz="2100" b="1" i="0">
                <a:solidFill>
                  <a:srgbClr val="24470F"/>
                </a:solidFill>
                <a:latin typeface="Arial"/>
              </a:rPr>
              <a:t>المسؤول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5255" y="3291840"/>
            <a:ext cx="2148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ctr"/>
            <a:r>
              <a:rPr sz="1600" b="0" i="0">
                <a:solidFill>
                  <a:srgbClr val="67776A"/>
                </a:solidFill>
                <a:latin typeface="Arial"/>
              </a:rPr>
              <a:t>المخزون والمشتريات والمصاريف والتقارير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7735" y="1645920"/>
            <a:ext cx="260604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82719" y="1920240"/>
            <a:ext cx="566928" cy="566928"/>
          </a:xfrm>
          <a:prstGeom prst="ellipse">
            <a:avLst/>
          </a:prstGeom>
          <a:solidFill>
            <a:srgbClr val="244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28C28"/>
                </a:solidFill>
                <a:latin typeface="Arial"/>
              </a:rPr>
              <a:t>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0615" y="274320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ctr"/>
            <a:r>
              <a:rPr sz="2100" b="1" i="0">
                <a:solidFill>
                  <a:srgbClr val="24470F"/>
                </a:solidFill>
                <a:latin typeface="Arial"/>
              </a:rPr>
              <a:t>البائع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6335" y="3291840"/>
            <a:ext cx="2148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ctr"/>
            <a:r>
              <a:rPr sz="1600" b="0" i="0">
                <a:solidFill>
                  <a:srgbClr val="67776A"/>
                </a:solidFill>
                <a:latin typeface="Arial"/>
              </a:rPr>
              <a:t>الصندوق والزبائن ومبيعاته — دون رؤية الهوامش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8815" y="1645920"/>
            <a:ext cx="260604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593799" y="1920240"/>
            <a:ext cx="566928" cy="566928"/>
          </a:xfrm>
          <a:prstGeom prst="ellipse">
            <a:avLst/>
          </a:prstGeom>
          <a:solidFill>
            <a:srgbClr val="244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28C28"/>
                </a:solidFill>
                <a:latin typeface="Arial"/>
              </a:rPr>
              <a:t>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695" y="274320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ctr"/>
            <a:r>
              <a:rPr sz="2100" b="1" i="0">
                <a:solidFill>
                  <a:srgbClr val="24470F"/>
                </a:solidFill>
                <a:latin typeface="Arial"/>
              </a:rPr>
              <a:t>الموصّل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415" y="3291840"/>
            <a:ext cx="2148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ctr"/>
            <a:r>
              <a:rPr sz="1600" b="0" i="0">
                <a:solidFill>
                  <a:srgbClr val="67776A"/>
                </a:solidFill>
                <a:latin typeface="Arial"/>
              </a:rPr>
              <a:t>توصيلاته: اتصال ومسار وتحصيل والتبليغ عن فشل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0255" y="52578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800" b="0" i="0">
                <a:solidFill>
                  <a:srgbClr val="1B2A1E"/>
                </a:solidFill>
                <a:latin typeface="Arial"/>
              </a:rPr>
              <a:t>يدخل كل شخص بحسابه ولا يرى إلا ما يخصّه. قابل للتثبيت على الهاتف واللوحة والحاسوب — دون شراء أي عتاد.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l"/>
            <a:r>
              <a:rPr sz="1200" b="0" i="0">
                <a:solidFill>
                  <a:srgbClr val="67776A"/>
                </a:solidFill>
                <a:latin typeface="Arial"/>
              </a:rPr>
              <a:t>Boutika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200" b="0" i="0">
                <a:solidFill>
                  <a:srgbClr val="67776A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255" y="4114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rtl="1" algn="r"/>
            <a:r>
              <a:rPr sz="3500" b="1" i="0">
                <a:solidFill>
                  <a:srgbClr val="24470F"/>
                </a:solidFill>
                <a:latin typeface="Arial"/>
              </a:rPr>
              <a:t>صندوق سريع باللمس يمسح الباركود</a:t>
            </a:r>
          </a:p>
        </p:txBody>
      </p:sp>
      <p:pic>
        <p:nvPicPr>
          <p:cNvPr id="3" name="Picture 2" descr="20-cais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055" y="1554480"/>
            <a:ext cx="6766560" cy="4229100"/>
          </a:xfrm>
          <a:prstGeom prst="rect">
            <a:avLst/>
          </a:prstGeom>
          <a:ln w="9525">
            <a:solidFill>
              <a:srgbClr val="C9D4BD"/>
            </a:solidFill>
          </a:ln>
        </p:spPr>
      </p:pic>
      <p:sp>
        <p:nvSpPr>
          <p:cNvPr id="4" name="Oval 3"/>
          <p:cNvSpPr/>
          <p:nvPr/>
        </p:nvSpPr>
        <p:spPr>
          <a:xfrm>
            <a:off x="4035247" y="1691640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5935" y="1673352"/>
            <a:ext cx="34564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800" b="1" i="0">
                <a:solidFill>
                  <a:srgbClr val="24470F"/>
                </a:solidFill>
                <a:latin typeface="Arial"/>
              </a:rPr>
              <a:t>المس أو امسح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5935" y="1965960"/>
            <a:ext cx="3456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500" b="0" i="0">
                <a:solidFill>
                  <a:srgbClr val="67776A"/>
                </a:solidFill>
                <a:latin typeface="Arial"/>
              </a:rPr>
              <a:t>قارئ USB أو كاميرا الهاتف</a:t>
            </a:r>
          </a:p>
        </p:txBody>
      </p:sp>
      <p:sp>
        <p:nvSpPr>
          <p:cNvPr id="7" name="Oval 6"/>
          <p:cNvSpPr/>
          <p:nvPr/>
        </p:nvSpPr>
        <p:spPr>
          <a:xfrm>
            <a:off x="4035247" y="2560320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935" y="2542032"/>
            <a:ext cx="34564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800" b="1" i="0">
                <a:solidFill>
                  <a:srgbClr val="24470F"/>
                </a:solidFill>
                <a:latin typeface="Arial"/>
              </a:rPr>
              <a:t>نقداً أو بطاقة أو CCP أو دَين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935" y="2834639"/>
            <a:ext cx="3456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500" b="0" i="0">
                <a:solidFill>
                  <a:srgbClr val="67776A"/>
                </a:solidFill>
                <a:latin typeface="Arial"/>
              </a:rPr>
              <a:t>حساب الباقي تلقائياً</a:t>
            </a:r>
          </a:p>
        </p:txBody>
      </p:sp>
      <p:sp>
        <p:nvSpPr>
          <p:cNvPr id="10" name="Oval 9"/>
          <p:cNvSpPr/>
          <p:nvPr/>
        </p:nvSpPr>
        <p:spPr>
          <a:xfrm>
            <a:off x="4035247" y="3429000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5935" y="3410712"/>
            <a:ext cx="34564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800" b="1" i="0">
                <a:solidFill>
                  <a:srgbClr val="24470F"/>
                </a:solidFill>
                <a:latin typeface="Arial"/>
              </a:rPr>
              <a:t>البيع بالوزن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935" y="3703320"/>
            <a:ext cx="3456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500" b="0" i="0">
                <a:solidFill>
                  <a:srgbClr val="67776A"/>
                </a:solidFill>
                <a:latin typeface="Arial"/>
              </a:rPr>
              <a:t>كغ، غ، لتر: 2٫5 كغ بلمسة</a:t>
            </a:r>
          </a:p>
        </p:txBody>
      </p:sp>
      <p:sp>
        <p:nvSpPr>
          <p:cNvPr id="13" name="Oval 12"/>
          <p:cNvSpPr/>
          <p:nvPr/>
        </p:nvSpPr>
        <p:spPr>
          <a:xfrm>
            <a:off x="4035247" y="4297680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5935" y="4279392"/>
            <a:ext cx="34564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800" b="1" i="0">
                <a:solidFill>
                  <a:srgbClr val="24470F"/>
                </a:solidFill>
                <a:latin typeface="Arial"/>
              </a:rPr>
              <a:t>وصل قابل للطباعة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935" y="4572000"/>
            <a:ext cx="3456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500" b="0" i="0">
                <a:solidFill>
                  <a:srgbClr val="67776A"/>
                </a:solidFill>
                <a:latin typeface="Arial"/>
              </a:rPr>
              <a:t>80 مم، مع الرسم عند الحاجة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l"/>
            <a:r>
              <a:rPr sz="1200" b="0" i="0">
                <a:solidFill>
                  <a:srgbClr val="67776A"/>
                </a:solidFill>
                <a:latin typeface="Arial"/>
              </a:rPr>
              <a:t>Boutika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200" b="0" i="0">
                <a:solidFill>
                  <a:srgbClr val="67776A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255" y="4114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rtl="1" algn="r"/>
            <a:r>
              <a:rPr sz="3500" b="1" i="0">
                <a:solidFill>
                  <a:srgbClr val="24470F"/>
                </a:solidFill>
                <a:latin typeface="Arial"/>
              </a:rPr>
              <a:t>التوصيل، من السلة إلى استلام المال</a:t>
            </a:r>
          </a:p>
        </p:txBody>
      </p:sp>
      <p:pic>
        <p:nvPicPr>
          <p:cNvPr id="3" name="Picture 2" descr="40-livrais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5215" y="1463040"/>
            <a:ext cx="5486400" cy="3429000"/>
          </a:xfrm>
          <a:prstGeom prst="rect">
            <a:avLst/>
          </a:prstGeom>
          <a:ln w="9525">
            <a:solidFill>
              <a:srgbClr val="C9D4BD"/>
            </a:solidFill>
          </a:ln>
        </p:spPr>
      </p:pic>
      <p:pic>
        <p:nvPicPr>
          <p:cNvPr id="4" name="Picture 3" descr="m-40-cour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8628" y="1371600"/>
            <a:ext cx="2154907" cy="4663440"/>
          </a:xfrm>
          <a:prstGeom prst="rect">
            <a:avLst/>
          </a:prstGeom>
          <a:ln w="9525">
            <a:solidFill>
              <a:srgbClr val="C9D4BD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967935" y="5029200"/>
            <a:ext cx="6583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700" b="0" i="0">
                <a:solidFill>
                  <a:srgbClr val="1B2A1E"/>
                </a:solidFill>
                <a:latin typeface="Arial"/>
              </a:rPr>
              <a:t>تعريفات لكل ولاية وتوصيل مجاني ابتداءً من مبلغ</a:t>
            </a:r>
          </a:p>
          <a:p>
            <a:pPr rtl="1" algn="r">
              <a:spcBef>
                <a:spcPts val="720"/>
              </a:spcBef>
            </a:pPr>
            <a:r>
              <a:rPr sz="1700" b="0" i="0">
                <a:solidFill>
                  <a:srgbClr val="1B2A1E"/>
                </a:solidFill>
                <a:latin typeface="Arial"/>
              </a:rPr>
              <a:t>الدفع عند الاستلام أو مدفوع مسبقاً (CCP، بطاقة)</a:t>
            </a:r>
          </a:p>
          <a:p>
            <a:pPr rtl="1" algn="r">
              <a:spcBef>
                <a:spcPts val="720"/>
              </a:spcBef>
            </a:pPr>
            <a:r>
              <a:rPr sz="1700" b="0" i="0">
                <a:solidFill>
                  <a:srgbClr val="1B2A1E"/>
                </a:solidFill>
                <a:latin typeface="Arial"/>
              </a:rPr>
              <a:t>تسليم الأموال: معرفة ما على كل موصّل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l"/>
            <a:r>
              <a:rPr sz="1200" b="0" i="0">
                <a:solidFill>
                  <a:srgbClr val="67776A"/>
                </a:solidFill>
                <a:latin typeface="Arial"/>
              </a:rPr>
              <a:t>Boutika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200" b="0" i="0">
                <a:solidFill>
                  <a:srgbClr val="67776A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255" y="4114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rtl="1" algn="r"/>
            <a:r>
              <a:rPr sz="3500" b="1" i="0">
                <a:solidFill>
                  <a:srgbClr val="24470F"/>
                </a:solidFill>
                <a:latin typeface="Arial"/>
              </a:rPr>
              <a:t>مخزون تحت السيطرة دون خسارة</a:t>
            </a:r>
          </a:p>
        </p:txBody>
      </p:sp>
      <p:pic>
        <p:nvPicPr>
          <p:cNvPr id="3" name="Picture 2" descr="50-stock-aler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055" y="1554480"/>
            <a:ext cx="6766560" cy="4229100"/>
          </a:xfrm>
          <a:prstGeom prst="rect">
            <a:avLst/>
          </a:prstGeom>
          <a:ln w="9525">
            <a:solidFill>
              <a:srgbClr val="C9D4BD"/>
            </a:solidFill>
          </a:ln>
        </p:spPr>
      </p:pic>
      <p:sp>
        <p:nvSpPr>
          <p:cNvPr id="4" name="Oval 3"/>
          <p:cNvSpPr/>
          <p:nvPr/>
        </p:nvSpPr>
        <p:spPr>
          <a:xfrm>
            <a:off x="4035247" y="1691640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5935" y="1673352"/>
            <a:ext cx="34564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800" b="1" i="0">
                <a:solidFill>
                  <a:srgbClr val="24470F"/>
                </a:solidFill>
                <a:latin typeface="Arial"/>
              </a:rPr>
              <a:t>تنبيهات تلقائية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5935" y="1965960"/>
            <a:ext cx="3456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500" b="0" i="0">
                <a:solidFill>
                  <a:srgbClr val="67776A"/>
                </a:solidFill>
                <a:latin typeface="Arial"/>
              </a:rPr>
              <a:t>نفاد ومخزون منخفض وصلاحية قريبة</a:t>
            </a:r>
          </a:p>
        </p:txBody>
      </p:sp>
      <p:sp>
        <p:nvSpPr>
          <p:cNvPr id="7" name="Oval 6"/>
          <p:cNvSpPr/>
          <p:nvPr/>
        </p:nvSpPr>
        <p:spPr>
          <a:xfrm>
            <a:off x="4035247" y="2560320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935" y="2542032"/>
            <a:ext cx="34564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800" b="1" i="0">
                <a:solidFill>
                  <a:srgbClr val="24470F"/>
                </a:solidFill>
                <a:latin typeface="Arial"/>
              </a:rPr>
              <a:t>جرد في دقائق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935" y="2834639"/>
            <a:ext cx="3456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500" b="0" i="0">
                <a:solidFill>
                  <a:srgbClr val="67776A"/>
                </a:solidFill>
                <a:latin typeface="Arial"/>
              </a:rPr>
              <a:t>تُسجَّل الفروقات فقط</a:t>
            </a:r>
          </a:p>
        </p:txBody>
      </p:sp>
      <p:sp>
        <p:nvSpPr>
          <p:cNvPr id="10" name="Oval 9"/>
          <p:cNvSpPr/>
          <p:nvPr/>
        </p:nvSpPr>
        <p:spPr>
          <a:xfrm>
            <a:off x="4035247" y="3429000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5935" y="3410712"/>
            <a:ext cx="34564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800" b="1" i="0">
                <a:solidFill>
                  <a:srgbClr val="24470F"/>
                </a:solidFill>
                <a:latin typeface="Arial"/>
              </a:rPr>
              <a:t>مشتريات وموردون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935" y="3703320"/>
            <a:ext cx="3456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500" b="0" i="0">
                <a:solidFill>
                  <a:srgbClr val="67776A"/>
                </a:solidFill>
                <a:latin typeface="Arial"/>
              </a:rPr>
              <a:t>متوسط سعر الشراء وتتبع الديون</a:t>
            </a:r>
          </a:p>
        </p:txBody>
      </p:sp>
      <p:sp>
        <p:nvSpPr>
          <p:cNvPr id="13" name="Oval 12"/>
          <p:cNvSpPr/>
          <p:nvPr/>
        </p:nvSpPr>
        <p:spPr>
          <a:xfrm>
            <a:off x="4035247" y="4297680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5935" y="4279392"/>
            <a:ext cx="34564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800" b="1" i="0">
                <a:solidFill>
                  <a:srgbClr val="24470F"/>
                </a:solidFill>
                <a:latin typeface="Arial"/>
              </a:rPr>
              <a:t>سجل الحركات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935" y="4572000"/>
            <a:ext cx="3456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500" b="0" i="0">
                <a:solidFill>
                  <a:srgbClr val="67776A"/>
                </a:solidFill>
                <a:latin typeface="Arial"/>
              </a:rPr>
              <a:t>من فعل ماذا ومتى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l"/>
            <a:r>
              <a:rPr sz="1200" b="0" i="0">
                <a:solidFill>
                  <a:srgbClr val="67776A"/>
                </a:solidFill>
                <a:latin typeface="Arial"/>
              </a:rPr>
              <a:t>Boutika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200" b="0" i="0">
                <a:solidFill>
                  <a:srgbClr val="67776A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255" y="4114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rtl="1" algn="r"/>
            <a:r>
              <a:rPr sz="3500" b="1" i="0">
                <a:solidFill>
                  <a:srgbClr val="24470F"/>
                </a:solidFill>
                <a:latin typeface="Arial"/>
              </a:rPr>
              <a:t>ديون الزبائن والموردون تحت السيطرة</a:t>
            </a:r>
          </a:p>
        </p:txBody>
      </p:sp>
      <p:pic>
        <p:nvPicPr>
          <p:cNvPr id="3" name="Picture 2" descr="61-client-fich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655" y="1463040"/>
            <a:ext cx="5394960" cy="3371850"/>
          </a:xfrm>
          <a:prstGeom prst="rect">
            <a:avLst/>
          </a:prstGeom>
          <a:ln w="9525">
            <a:solidFill>
              <a:srgbClr val="C9D4BD"/>
            </a:solidFill>
          </a:ln>
        </p:spPr>
      </p:pic>
      <p:pic>
        <p:nvPicPr>
          <p:cNvPr id="4" name="Picture 3" descr="56-achat-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" y="1463040"/>
            <a:ext cx="5394960" cy="3371850"/>
          </a:xfrm>
          <a:prstGeom prst="rect">
            <a:avLst/>
          </a:prstGeom>
          <a:ln w="9525">
            <a:solidFill>
              <a:srgbClr val="C9D4BD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156655" y="5029200"/>
            <a:ext cx="5394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700" b="0" i="0">
                <a:solidFill>
                  <a:srgbClr val="1B2A1E"/>
                </a:solidFill>
                <a:latin typeface="Arial"/>
              </a:rPr>
              <a:t>ملف الزبون: المشتريات والرصيد والدفعات</a:t>
            </a:r>
          </a:p>
          <a:p>
            <a:pPr rtl="1" algn="r">
              <a:spcBef>
                <a:spcPts val="720"/>
              </a:spcBef>
            </a:pPr>
            <a:r>
              <a:rPr sz="1700" b="0" i="0">
                <a:solidFill>
                  <a:srgbClr val="1B2A1E"/>
                </a:solidFill>
                <a:latin typeface="Arial"/>
              </a:rPr>
              <a:t>تذكير واتساب بلمسة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7375" y="5029200"/>
            <a:ext cx="5394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700" b="0" i="0">
                <a:solidFill>
                  <a:srgbClr val="1B2A1E"/>
                </a:solidFill>
                <a:latin typeface="Arial"/>
              </a:rPr>
              <a:t>الشراء: يُحدَّث المخزون وسعر الشراء</a:t>
            </a:r>
          </a:p>
          <a:p>
            <a:pPr rtl="1" algn="r">
              <a:spcBef>
                <a:spcPts val="720"/>
              </a:spcBef>
            </a:pPr>
            <a:r>
              <a:rPr sz="1700" b="0" i="0">
                <a:solidFill>
                  <a:srgbClr val="1B2A1E"/>
                </a:solidFill>
                <a:latin typeface="Arial"/>
              </a:rPr>
              <a:t>ديون الموردين ظاهرة وقابلة للتسديد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l"/>
            <a:r>
              <a:rPr sz="1200" b="0" i="0">
                <a:solidFill>
                  <a:srgbClr val="67776A"/>
                </a:solidFill>
                <a:latin typeface="Arial"/>
              </a:rPr>
              <a:t>Boutika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200" b="0" i="0">
                <a:solidFill>
                  <a:srgbClr val="67776A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255" y="4114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rtl="1" algn="r"/>
            <a:r>
              <a:rPr sz="3500" b="1" i="0">
                <a:solidFill>
                  <a:srgbClr val="24470F"/>
                </a:solidFill>
                <a:latin typeface="Arial"/>
              </a:rPr>
              <a:t>أرقام واضحة يوماً بعد يوم</a:t>
            </a:r>
          </a:p>
        </p:txBody>
      </p:sp>
      <p:pic>
        <p:nvPicPr>
          <p:cNvPr id="3" name="Picture 2" descr="10-accue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455" y="1463040"/>
            <a:ext cx="5852160" cy="3657600"/>
          </a:xfrm>
          <a:prstGeom prst="rect">
            <a:avLst/>
          </a:prstGeom>
          <a:ln w="9525">
            <a:solidFill>
              <a:srgbClr val="C9D4BD"/>
            </a:solidFill>
          </a:ln>
        </p:spPr>
      </p:pic>
      <p:pic>
        <p:nvPicPr>
          <p:cNvPr id="4" name="Picture 3" descr="71-rappo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15" y="1463040"/>
            <a:ext cx="4937760" cy="3086100"/>
          </a:xfrm>
          <a:prstGeom prst="rect">
            <a:avLst/>
          </a:prstGeom>
          <a:ln w="9525">
            <a:solidFill>
              <a:srgbClr val="C9D4BD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699455" y="4937760"/>
            <a:ext cx="5852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700" b="0" i="0">
                <a:solidFill>
                  <a:srgbClr val="1B2A1E"/>
                </a:solidFill>
                <a:latin typeface="Arial"/>
              </a:rPr>
              <a:t>مبيعات وربح اليوم والشهر</a:t>
            </a:r>
          </a:p>
          <a:p>
            <a:pPr rtl="1" algn="r">
              <a:spcBef>
                <a:spcPts val="720"/>
              </a:spcBef>
            </a:pPr>
            <a:r>
              <a:rPr sz="1700" b="0" i="0">
                <a:solidFill>
                  <a:srgbClr val="1B2A1E"/>
                </a:solidFill>
                <a:latin typeface="Arial"/>
              </a:rPr>
              <a:t>أفضل المنتجات والنتيجة بعد المصاريف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8815" y="4937760"/>
            <a:ext cx="4937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700" b="0" i="0">
                <a:solidFill>
                  <a:srgbClr val="1B2A1E"/>
                </a:solidFill>
                <a:latin typeface="Arial"/>
              </a:rPr>
              <a:t>تقارير حسب اليوم والفئة والبائع وطريقة الدفع</a:t>
            </a:r>
          </a:p>
          <a:p>
            <a:pPr rtl="1" algn="r">
              <a:spcBef>
                <a:spcPts val="720"/>
              </a:spcBef>
            </a:pPr>
            <a:r>
              <a:rPr sz="1700" b="0" i="0">
                <a:solidFill>
                  <a:srgbClr val="1B2A1E"/>
                </a:solidFill>
                <a:latin typeface="Arial"/>
              </a:rPr>
              <a:t>تصدير CSV لإكسل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l"/>
            <a:r>
              <a:rPr sz="1200" b="0" i="0">
                <a:solidFill>
                  <a:srgbClr val="67776A"/>
                </a:solidFill>
                <a:latin typeface="Arial"/>
              </a:rPr>
              <a:t>Boutika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200" b="0" i="0">
                <a:solidFill>
                  <a:srgbClr val="67776A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255" y="4114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rtl="1" algn="r"/>
            <a:r>
              <a:rPr sz="3500" b="1" i="0">
                <a:solidFill>
                  <a:srgbClr val="24470F"/>
                </a:solidFill>
                <a:latin typeface="Arial"/>
              </a:rPr>
              <a:t>شامل: نموذج لكل تجارة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945575" y="155448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73736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ctr"/>
            <a:r>
              <a:rPr sz="3700" b="0" i="0">
                <a:solidFill>
                  <a:srgbClr val="1B2A1E"/>
                </a:solidFill>
                <a:latin typeface="Arial"/>
              </a:rPr>
              <a:t>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28455" y="256032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ctr"/>
            <a:r>
              <a:rPr sz="2000" b="1" i="0">
                <a:solidFill>
                  <a:srgbClr val="24470F"/>
                </a:solidFill>
                <a:latin typeface="Arial"/>
              </a:rPr>
              <a:t>كشك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74175" y="306324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ctr"/>
            <a:r>
              <a:rPr sz="1500" b="0" i="0">
                <a:solidFill>
                  <a:srgbClr val="67776A"/>
                </a:solidFill>
                <a:latin typeface="Arial"/>
              </a:rPr>
              <a:t>مشروبات ووجبات خفيفة وتعبئة وصحف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6655" y="155448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73736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ctr"/>
            <a:r>
              <a:rPr sz="3700" b="0" i="0">
                <a:solidFill>
                  <a:srgbClr val="1B2A1E"/>
                </a:solidFill>
                <a:latin typeface="Arial"/>
              </a:rPr>
              <a:t>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9535" y="256032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ctr"/>
            <a:r>
              <a:rPr sz="2000" b="1" i="0">
                <a:solidFill>
                  <a:srgbClr val="24470F"/>
                </a:solidFill>
                <a:latin typeface="Arial"/>
              </a:rPr>
              <a:t>مستحضرات التجميل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5255" y="306324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ctr"/>
            <a:r>
              <a:rPr sz="1500" b="0" i="0">
                <a:solidFill>
                  <a:srgbClr val="67776A"/>
                </a:solidFill>
                <a:latin typeface="Arial"/>
              </a:rPr>
              <a:t>درجات الألوان وأنواع وصلاحية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7735" y="155448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ctr"/>
            <a:r>
              <a:rPr sz="3700" b="0" i="0">
                <a:solidFill>
                  <a:srgbClr val="1B2A1E"/>
                </a:solidFill>
                <a:latin typeface="Arial"/>
              </a:rPr>
              <a:t>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0615" y="256032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ctr"/>
            <a:r>
              <a:rPr sz="2000" b="1" i="0">
                <a:solidFill>
                  <a:srgbClr val="24470F"/>
                </a:solidFill>
                <a:latin typeface="Arial"/>
              </a:rPr>
              <a:t>مواد غذائية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6335" y="306324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ctr"/>
            <a:r>
              <a:rPr sz="1500" b="0" i="0">
                <a:solidFill>
                  <a:srgbClr val="67776A"/>
                </a:solidFill>
                <a:latin typeface="Arial"/>
              </a:rPr>
              <a:t>بيع بالوزن وتواريخ الصلاحية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8815" y="155448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19" y="173736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ctr"/>
            <a:r>
              <a:rPr sz="3700" b="0" i="0">
                <a:solidFill>
                  <a:srgbClr val="1B2A1E"/>
                </a:solidFill>
                <a:latin typeface="Arial"/>
              </a:rPr>
              <a:t>🛍️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695" y="256032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ctr"/>
            <a:r>
              <a:rPr sz="2000" b="1" i="0">
                <a:solidFill>
                  <a:srgbClr val="24470F"/>
                </a:solidFill>
                <a:latin typeface="Arial"/>
              </a:rPr>
              <a:t>تجارة عامة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415" y="306324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ctr"/>
            <a:r>
              <a:rPr sz="1500" b="0" i="0">
                <a:solidFill>
                  <a:srgbClr val="67776A"/>
                </a:solidFill>
                <a:latin typeface="Arial"/>
              </a:rPr>
              <a:t>أي تجارة تجزئة أخرى</a:t>
            </a:r>
          </a:p>
        </p:txBody>
      </p:sp>
      <p:pic>
        <p:nvPicPr>
          <p:cNvPr id="19" name="Picture 18" descr="11-bien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3471" y="4114800"/>
            <a:ext cx="3438144" cy="2148840"/>
          </a:xfrm>
          <a:prstGeom prst="rect">
            <a:avLst/>
          </a:prstGeom>
          <a:ln w="9525">
            <a:solidFill>
              <a:srgbClr val="C9D4BD"/>
            </a:solidFill>
          </a:ln>
        </p:spPr>
      </p:pic>
      <p:sp>
        <p:nvSpPr>
          <p:cNvPr id="20" name="TextBox 19"/>
          <p:cNvSpPr txBox="1"/>
          <p:nvPr/>
        </p:nvSpPr>
        <p:spPr>
          <a:xfrm>
            <a:off x="578815" y="4297680"/>
            <a:ext cx="5943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800" b="0" i="0">
                <a:solidFill>
                  <a:srgbClr val="1B2A1E"/>
                </a:solidFill>
                <a:latin typeface="Arial"/>
              </a:rPr>
              <a:t>عند أول تشغيل يكفي اختيار واحد: تُجهَّز الفئات والخيارات ومنتجات تجريبية.</a:t>
            </a:r>
          </a:p>
          <a:p>
            <a:pPr rtl="1" algn="r">
              <a:spcBef>
                <a:spcPts val="765"/>
              </a:spcBef>
            </a:pPr>
            <a:r>
              <a:rPr sz="1800" b="0" i="0">
                <a:solidFill>
                  <a:srgbClr val="1B2A1E"/>
                </a:solidFill>
                <a:latin typeface="Arial"/>
              </a:rPr>
              <a:t>ويبقى كل شيء قابلاً للتعديل لاحقاً.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l"/>
            <a:r>
              <a:rPr sz="1200" b="0" i="0">
                <a:solidFill>
                  <a:srgbClr val="67776A"/>
                </a:solidFill>
                <a:latin typeface="Arial"/>
              </a:rPr>
              <a:t>Boutika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200" b="0" i="0">
                <a:solidFill>
                  <a:srgbClr val="67776A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255" y="4114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rtl="1" algn="r"/>
            <a:r>
              <a:rPr sz="3500" b="1" i="0">
                <a:solidFill>
                  <a:srgbClr val="24470F"/>
                </a:solidFill>
                <a:latin typeface="Arial"/>
              </a:rPr>
              <a:t>على الهاتف، كتطبيق حقيقي</a:t>
            </a:r>
          </a:p>
        </p:txBody>
      </p:sp>
      <p:pic>
        <p:nvPicPr>
          <p:cNvPr id="3" name="Picture 2" descr="m-20-cais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1575" y="1463040"/>
            <a:ext cx="2197160" cy="4754880"/>
          </a:xfrm>
          <a:prstGeom prst="rect">
            <a:avLst/>
          </a:prstGeom>
          <a:ln w="9525">
            <a:solidFill>
              <a:srgbClr val="C9D4BD"/>
            </a:solidFill>
          </a:ln>
        </p:spPr>
      </p:pic>
      <p:pic>
        <p:nvPicPr>
          <p:cNvPr id="4" name="Picture 3" descr="m-21-pani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375" y="1463040"/>
            <a:ext cx="2197160" cy="4754880"/>
          </a:xfrm>
          <a:prstGeom prst="rect">
            <a:avLst/>
          </a:prstGeom>
          <a:ln w="9525">
            <a:solidFill>
              <a:srgbClr val="C9D4BD"/>
            </a:solidFill>
          </a:ln>
        </p:spPr>
      </p:pic>
      <p:sp>
        <p:nvSpPr>
          <p:cNvPr id="5" name="Oval 4"/>
          <p:cNvSpPr/>
          <p:nvPr/>
        </p:nvSpPr>
        <p:spPr>
          <a:xfrm>
            <a:off x="5041087" y="1737360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7375" y="1719072"/>
            <a:ext cx="43708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800" b="1" i="0">
                <a:solidFill>
                  <a:srgbClr val="24470F"/>
                </a:solidFill>
                <a:latin typeface="Arial"/>
              </a:rPr>
              <a:t>قابل للتثبيت بلمسة</a:t>
            </a:r>
          </a:p>
        </p:txBody>
      </p:sp>
      <p:sp>
        <p:nvSpPr>
          <p:cNvPr id="7" name="Oval 6"/>
          <p:cNvSpPr/>
          <p:nvPr/>
        </p:nvSpPr>
        <p:spPr>
          <a:xfrm>
            <a:off x="5041087" y="2345436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375" y="2327148"/>
            <a:ext cx="43708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800" b="1" i="0">
                <a:solidFill>
                  <a:srgbClr val="24470F"/>
                </a:solidFill>
                <a:latin typeface="Arial"/>
              </a:rPr>
              <a:t>صندوق ومسح بالكاميرا</a:t>
            </a:r>
          </a:p>
        </p:txBody>
      </p:sp>
      <p:sp>
        <p:nvSpPr>
          <p:cNvPr id="9" name="Oval 8"/>
          <p:cNvSpPr/>
          <p:nvPr/>
        </p:nvSpPr>
        <p:spPr>
          <a:xfrm>
            <a:off x="5041087" y="2953512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7375" y="2935224"/>
            <a:ext cx="43708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800" b="1" i="0">
                <a:solidFill>
                  <a:srgbClr val="24470F"/>
                </a:solidFill>
                <a:latin typeface="Arial"/>
              </a:rPr>
              <a:t>قائمة سفلية مصمَّمة للإبهام</a:t>
            </a:r>
          </a:p>
        </p:txBody>
      </p:sp>
      <p:sp>
        <p:nvSpPr>
          <p:cNvPr id="11" name="Oval 10"/>
          <p:cNvSpPr/>
          <p:nvPr/>
        </p:nvSpPr>
        <p:spPr>
          <a:xfrm>
            <a:off x="5041087" y="3561588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375" y="3543300"/>
            <a:ext cx="43708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800" b="1" i="0">
                <a:solidFill>
                  <a:srgbClr val="24470F"/>
                </a:solidFill>
                <a:latin typeface="Arial"/>
              </a:rPr>
              <a:t>مظهر داكن وعربية من اليمين إلى اليسار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l"/>
            <a:r>
              <a:rPr sz="1200" b="0" i="0">
                <a:solidFill>
                  <a:srgbClr val="67776A"/>
                </a:solidFill>
                <a:latin typeface="Arial"/>
              </a:rPr>
              <a:t>Boutika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200" b="0" i="0">
                <a:solidFill>
                  <a:srgbClr val="67776A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4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255" y="4114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rtl="1" algn="r"/>
            <a:r>
              <a:rPr sz="3500" b="1" i="0">
                <a:solidFill>
                  <a:srgbClr val="FFFFFF"/>
                </a:solidFill>
                <a:latin typeface="Arial"/>
              </a:rPr>
              <a:t>العربية والفرنسية والإنجليزية — على كل الشاشات</a:t>
            </a:r>
          </a:p>
        </p:txBody>
      </p:sp>
      <p:pic>
        <p:nvPicPr>
          <p:cNvPr id="3" name="Picture 2" descr="10-accue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2415" y="1463040"/>
            <a:ext cx="5029200" cy="3143250"/>
          </a:xfrm>
          <a:prstGeom prst="rect">
            <a:avLst/>
          </a:prstGeom>
          <a:ln w="9525">
            <a:solidFill>
              <a:srgbClr val="C9D4BD"/>
            </a:solidFill>
          </a:ln>
        </p:spPr>
      </p:pic>
      <p:pic>
        <p:nvPicPr>
          <p:cNvPr id="4" name="Picture 3" descr="75-somb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" y="1463040"/>
            <a:ext cx="5029200" cy="3143250"/>
          </a:xfrm>
          <a:prstGeom prst="rect">
            <a:avLst/>
          </a:prstGeom>
          <a:ln w="9525">
            <a:solidFill>
              <a:srgbClr val="C9D4BD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248095" y="4892040"/>
            <a:ext cx="5303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700" b="0" i="0">
                <a:solidFill>
                  <a:srgbClr val="FFFFFF"/>
                </a:solidFill>
                <a:latin typeface="Arial"/>
              </a:rPr>
              <a:t>عربية من اليمين إلى اليسار مع أرقام وتواريخ مناسبة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8815" y="4892040"/>
            <a:ext cx="5303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700" b="0" i="0">
                <a:solidFill>
                  <a:srgbClr val="FFFFFF"/>
                </a:solidFill>
                <a:latin typeface="Arial"/>
              </a:rPr>
              <a:t>مظهر فاتح أو داكن، حسب اختيار كل شخص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l"/>
            <a:r>
              <a:rPr sz="1200" b="0" i="0">
                <a:solidFill>
                  <a:srgbClr val="A6C98A"/>
                </a:solidFill>
                <a:latin typeface="Arial"/>
              </a:rPr>
              <a:t>Boutika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200" b="0" i="0">
                <a:solidFill>
                  <a:srgbClr val="A6C98A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255" y="4114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rtl="1" algn="r"/>
            <a:r>
              <a:rPr sz="3500" b="1" i="0">
                <a:solidFill>
                  <a:srgbClr val="24470F"/>
                </a:solidFill>
                <a:latin typeface="Arial"/>
              </a:rPr>
              <a:t>للناشر: البيع لعدة متاجر</a:t>
            </a:r>
          </a:p>
        </p:txBody>
      </p:sp>
      <p:pic>
        <p:nvPicPr>
          <p:cNvPr id="3" name="Picture 2" descr="90-boutiq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455" y="1463040"/>
            <a:ext cx="5852160" cy="3657600"/>
          </a:xfrm>
          <a:prstGeom prst="rect">
            <a:avLst/>
          </a:prstGeom>
          <a:ln w="9525">
            <a:solidFill>
              <a:srgbClr val="C9D4BD"/>
            </a:solidFill>
          </a:ln>
        </p:spPr>
      </p:pic>
      <p:sp>
        <p:nvSpPr>
          <p:cNvPr id="4" name="Oval 3"/>
          <p:cNvSpPr/>
          <p:nvPr/>
        </p:nvSpPr>
        <p:spPr>
          <a:xfrm>
            <a:off x="4949647" y="1691640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375" y="1673352"/>
            <a:ext cx="42793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800" b="1" i="0">
                <a:solidFill>
                  <a:srgbClr val="24470F"/>
                </a:solidFill>
                <a:latin typeface="Arial"/>
              </a:rPr>
              <a:t>متجر = فضاء منفصل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7375" y="1965960"/>
            <a:ext cx="42793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500" b="0" i="0">
                <a:solidFill>
                  <a:srgbClr val="67776A"/>
                </a:solidFill>
                <a:latin typeface="Arial"/>
              </a:rPr>
              <a:t>رمز المؤسسة والمسيّر ورسالة ترحيب</a:t>
            </a:r>
          </a:p>
        </p:txBody>
      </p:sp>
      <p:sp>
        <p:nvSpPr>
          <p:cNvPr id="7" name="Oval 6"/>
          <p:cNvSpPr/>
          <p:nvPr/>
        </p:nvSpPr>
        <p:spPr>
          <a:xfrm>
            <a:off x="4949647" y="2560320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375" y="2542032"/>
            <a:ext cx="42793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800" b="1" i="0">
                <a:solidFill>
                  <a:srgbClr val="24470F"/>
                </a:solidFill>
                <a:latin typeface="Arial"/>
              </a:rPr>
              <a:t>الرخصة والحالة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7375" y="2834639"/>
            <a:ext cx="42793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500" b="0" i="0">
                <a:solidFill>
                  <a:srgbClr val="67776A"/>
                </a:solidFill>
                <a:latin typeface="Arial"/>
              </a:rPr>
              <a:t>تجربة، مفعّل، موقوف — أثر فوري</a:t>
            </a:r>
          </a:p>
        </p:txBody>
      </p:sp>
      <p:sp>
        <p:nvSpPr>
          <p:cNvPr id="10" name="Oval 9"/>
          <p:cNvSpPr/>
          <p:nvPr/>
        </p:nvSpPr>
        <p:spPr>
          <a:xfrm>
            <a:off x="4949647" y="3429000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375" y="3410712"/>
            <a:ext cx="42793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800" b="1" i="0">
                <a:solidFill>
                  <a:srgbClr val="24470F"/>
                </a:solidFill>
                <a:latin typeface="Arial"/>
              </a:rPr>
              <a:t>تجارب مجانية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375" y="3703320"/>
            <a:ext cx="42793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500" b="0" i="0">
                <a:solidFill>
                  <a:srgbClr val="67776A"/>
                </a:solidFill>
                <a:latin typeface="Arial"/>
              </a:rPr>
              <a:t>طلبات تصلك وتُحوَّل بنقرة</a:t>
            </a:r>
          </a:p>
        </p:txBody>
      </p:sp>
      <p:sp>
        <p:nvSpPr>
          <p:cNvPr id="13" name="Oval 12"/>
          <p:cNvSpPr/>
          <p:nvPr/>
        </p:nvSpPr>
        <p:spPr>
          <a:xfrm>
            <a:off x="4949647" y="4297680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375" y="4279392"/>
            <a:ext cx="42793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800" b="1" i="0">
                <a:solidFill>
                  <a:srgbClr val="24470F"/>
                </a:solidFill>
                <a:latin typeface="Arial"/>
              </a:rPr>
              <a:t>دعم عن بعد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7375" y="4572000"/>
            <a:ext cx="42793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500" b="0" i="0">
                <a:solidFill>
                  <a:srgbClr val="67776A"/>
                </a:solidFill>
                <a:latin typeface="Arial"/>
              </a:rPr>
              <a:t>الدخول إلى متجر مع تسجيل ذلك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l"/>
            <a:r>
              <a:rPr sz="1200" b="0" i="0">
                <a:solidFill>
                  <a:srgbClr val="67776A"/>
                </a:solidFill>
                <a:latin typeface="Arial"/>
              </a:rPr>
              <a:t>Boutika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200" b="0" i="0">
                <a:solidFill>
                  <a:srgbClr val="67776A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255" y="4114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rtl="1" algn="r"/>
            <a:r>
              <a:rPr sz="3500" b="1" i="0">
                <a:solidFill>
                  <a:srgbClr val="24470F"/>
                </a:solidFill>
                <a:latin typeface="Arial"/>
              </a:rPr>
              <a:t>بياناتكم محمية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031175" y="160020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59775" y="1874519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900" b="1" i="0">
                <a:solidFill>
                  <a:srgbClr val="24470F"/>
                </a:solidFill>
                <a:latin typeface="Arial"/>
              </a:rPr>
              <a:t>فضاء لكل متجر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9775" y="2468880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500" b="0" i="0">
                <a:solidFill>
                  <a:srgbClr val="67776A"/>
                </a:solidFill>
                <a:latin typeface="Arial"/>
              </a:rPr>
              <a:t>لا اختلاط للبيانات بين المتاجر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7855" y="160020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56455" y="1874519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900" b="1" i="0">
                <a:solidFill>
                  <a:srgbClr val="24470F"/>
                </a:solidFill>
                <a:latin typeface="Arial"/>
              </a:rPr>
              <a:t>صلاحيات حسب الصفة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6455" y="2468880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500" b="0" i="0">
                <a:solidFill>
                  <a:srgbClr val="67776A"/>
                </a:solidFill>
                <a:latin typeface="Arial"/>
              </a:rPr>
              <a:t>يرى كل شخص نطاقه فقط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" y="160020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3135" y="1874519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900" b="1" i="0">
                <a:solidFill>
                  <a:srgbClr val="24470F"/>
                </a:solidFill>
                <a:latin typeface="Arial"/>
              </a:rPr>
              <a:t>كلمات مرور محمية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3135" y="2468880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500" b="0" i="0">
                <a:solidFill>
                  <a:srgbClr val="67776A"/>
                </a:solidFill>
                <a:latin typeface="Arial"/>
              </a:rPr>
              <a:t>بصمة مملّحة وحظر بعد المحاولات المتكررة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31175" y="384048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9775" y="41148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900" b="1" i="0">
                <a:solidFill>
                  <a:srgbClr val="24470F"/>
                </a:solidFill>
                <a:latin typeface="Arial"/>
              </a:rPr>
              <a:t>دخول الدعم مسجَّل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9775" y="4709160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500" b="0" i="0">
                <a:solidFill>
                  <a:srgbClr val="67776A"/>
                </a:solidFill>
                <a:latin typeface="Arial"/>
              </a:rPr>
              <a:t>ولا بصلاحيات الناشر أبداً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7855" y="384048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6455" y="41148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900" b="1" i="0">
                <a:solidFill>
                  <a:srgbClr val="24470F"/>
                </a:solidFill>
                <a:latin typeface="Arial"/>
              </a:rPr>
              <a:t>استضافة حسب اختيارك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6455" y="4709160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500" b="0" i="0">
                <a:solidFill>
                  <a:srgbClr val="67776A"/>
                </a:solidFill>
                <a:latin typeface="Arial"/>
              </a:rPr>
              <a:t>Google Apps Script أو PHP / MySQL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" y="384048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3135" y="41148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900" b="1" i="0">
                <a:solidFill>
                  <a:srgbClr val="24470F"/>
                </a:solidFill>
                <a:latin typeface="Arial"/>
              </a:rPr>
              <a:t>بيانات قابلة للتصدير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3135" y="4709160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500" b="0" i="0">
                <a:solidFill>
                  <a:srgbClr val="67776A"/>
                </a:solidFill>
                <a:latin typeface="Arial"/>
              </a:rPr>
              <a:t>CSV ونسخة احتياطية في أي وقت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l"/>
            <a:r>
              <a:rPr sz="1200" b="0" i="0">
                <a:solidFill>
                  <a:srgbClr val="67776A"/>
                </a:solidFill>
                <a:latin typeface="Arial"/>
              </a:rPr>
              <a:t>Boutika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200" b="0" i="0">
                <a:solidFill>
                  <a:srgbClr val="67776A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255" y="4114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rtl="1" algn="r"/>
            <a:r>
              <a:rPr sz="3500" b="1" i="0">
                <a:solidFill>
                  <a:srgbClr val="24470F"/>
                </a:solidFill>
                <a:latin typeface="Arial"/>
              </a:rPr>
              <a:t>ابدؤوا في ثلاث خطوات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031175" y="1645920"/>
            <a:ext cx="352044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37215" y="1920240"/>
            <a:ext cx="640080" cy="64008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9775" y="274320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2100" b="1" i="0">
                <a:solidFill>
                  <a:srgbClr val="24470F"/>
                </a:solidFill>
                <a:latin typeface="Arial"/>
              </a:rPr>
              <a:t>اطلبوا تجربتكم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59775" y="347472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500" b="0" i="0">
                <a:solidFill>
                  <a:srgbClr val="67776A"/>
                </a:solidFill>
                <a:latin typeface="Arial"/>
              </a:rPr>
              <a:t>استمارة في الصفحة الرئيسية لبوتيكا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82135" y="1645920"/>
            <a:ext cx="352044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88175" y="1920240"/>
            <a:ext cx="640080" cy="64008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10735" y="274320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2100" b="1" i="0">
                <a:solidFill>
                  <a:srgbClr val="24470F"/>
                </a:solidFill>
                <a:latin typeface="Arial"/>
              </a:rPr>
              <a:t>نجهّز متجركم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0735" y="347472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500" b="0" i="0">
                <a:solidFill>
                  <a:srgbClr val="67776A"/>
                </a:solidFill>
                <a:latin typeface="Arial"/>
              </a:rPr>
              <a:t>الحسابات والفئات والمنتجات: نرافقكم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3095" y="1645920"/>
            <a:ext cx="352044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39135" y="1920240"/>
            <a:ext cx="640080" cy="64008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695" y="274320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2100" b="1" i="0">
                <a:solidFill>
                  <a:srgbClr val="24470F"/>
                </a:solidFill>
                <a:latin typeface="Arial"/>
              </a:rPr>
              <a:t>أنتم تبيعون ونحن نتابع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" y="347472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500" b="0" i="0">
                <a:solidFill>
                  <a:srgbClr val="67776A"/>
                </a:solidFill>
                <a:latin typeface="Arial"/>
              </a:rPr>
              <a:t>مساعدة داخل التطبيق ودعم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255" y="46177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900" b="1" i="0">
                <a:solidFill>
                  <a:srgbClr val="3F7D1E"/>
                </a:solidFill>
                <a:latin typeface="Arial"/>
              </a:rPr>
              <a:t>الصيغ: شهرية · سنوية · دفعة واحدة — التعريفات عند الطلب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255" y="52578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800" b="0" i="0">
                <a:solidFill>
                  <a:srgbClr val="1B2A1E"/>
                </a:solidFill>
                <a:latin typeface="Arial"/>
              </a:rPr>
              <a:t>تجربة مجانية دون التزام: كل الوظائف، ببياناتكم الحقيقية.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l"/>
            <a:r>
              <a:rPr sz="1200" b="0" i="0">
                <a:solidFill>
                  <a:srgbClr val="67776A"/>
                </a:solidFill>
                <a:latin typeface="Arial"/>
              </a:rPr>
              <a:t>Boutika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200" b="0" i="0">
                <a:solidFill>
                  <a:srgbClr val="67776A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4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3135" y="15544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4500" b="1" i="0">
                <a:solidFill>
                  <a:srgbClr val="F28C28"/>
                </a:solidFill>
                <a:latin typeface="Arial"/>
              </a:rPr>
              <a:t>جرّبوا بوتيكا في متجركم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3135" y="28346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2300" b="0" i="0">
                <a:solidFill>
                  <a:srgbClr val="FFFFFF"/>
                </a:solidFill>
                <a:latin typeface="Arial"/>
              </a:rPr>
              <a:t>الصفحة الرئيسية وطلب التجربة: rayanem-dev.github.io/boutika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135" y="36576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2100" b="0" i="0">
                <a:solidFill>
                  <a:srgbClr val="DCEBCB"/>
                </a:solidFill>
                <a:latin typeface="Arial"/>
              </a:rPr>
              <a:t>رايان رضا مداني — Rayane M.، ناشر بوتيكا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135" y="4297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2300" b="0" i="0">
                <a:solidFill>
                  <a:srgbClr val="FFFFFF"/>
                </a:solidFill>
                <a:latin typeface="Arial"/>
              </a:rPr>
              <a:t>0670779792  ·  rayanem@gmail.com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" y="52120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2300" b="0" i="0">
                <a:solidFill>
                  <a:srgbClr val="F28C28"/>
                </a:solidFill>
                <a:latin typeface="Arial"/>
              </a:rPr>
              <a:t>بوتيكا — متجرك ببساطة وجمال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l"/>
            <a:r>
              <a:rPr sz="1200" b="0" i="0">
                <a:solidFill>
                  <a:srgbClr val="A6C98A"/>
                </a:solidFill>
                <a:latin typeface="Arial"/>
              </a:rPr>
              <a:t>Boutika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/>
            <a:r>
              <a:rPr sz="1200" b="0" i="0">
                <a:solidFill>
                  <a:srgbClr val="A6C98A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