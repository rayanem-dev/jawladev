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Présentation de Boutika aux commerçants (environ 12 minutes), démonstration en direct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Proposer une démonstration en direct, puis ouvrir la demande d'essai avec le commerçant.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7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2194560" cy="2194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1371600"/>
            <a:ext cx="7863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F28C28"/>
                </a:solidFill>
                <a:latin typeface="Cambria"/>
              </a:rPr>
              <a:t>Boutika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651760"/>
            <a:ext cx="7680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mbria"/>
              </a:rPr>
              <a:t>La gestion de votre commerce, simple et belle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402336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CEBCB"/>
                </a:solidFill>
                <a:latin typeface="Calibri"/>
              </a:rPr>
              <a:t>Caisse · stock · livraison · crédit clients · chiffres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6C98A"/>
                </a:solidFill>
                <a:latin typeface="Calibri"/>
              </a:rPr>
              <a:t>Kiosque · Cosmétique · Alimentation — en français, arabe et anglais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Aujourd'hui, la boutique se gère « à la main 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19" y="1965960"/>
            <a:ext cx="566928" cy="56692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92024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4470F"/>
                </a:solidFill>
                <a:latin typeface="Calibri"/>
              </a:rPr>
              <a:t>Un cahier pour les ventes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46888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7776A"/>
                </a:solidFill>
                <a:latin typeface="Calibri"/>
              </a:rPr>
              <a:t>Calculs à la main, erreurs de caisse, aucune vue du bénéfice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37959" y="1965960"/>
            <a:ext cx="566928" cy="56692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92024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4470F"/>
                </a:solidFill>
                <a:latin typeface="Calibri"/>
              </a:rPr>
              <a:t>Un stock « dans la tête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46888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7776A"/>
                </a:solidFill>
                <a:latin typeface="Calibri"/>
              </a:rPr>
              <a:t>Ruptures découvertes trop tard, produits périmés jetés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49039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19" y="4114800"/>
            <a:ext cx="566928" cy="56692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069079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4470F"/>
                </a:solidFill>
                <a:latin typeface="Calibri"/>
              </a:rPr>
              <a:t>Des livraisons par téléphone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61772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7776A"/>
                </a:solidFill>
                <a:latin typeface="Calibri"/>
              </a:rPr>
              <a:t>Argent des livreurs difficile à suivre, adresses perdues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49039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37959" y="4114800"/>
            <a:ext cx="566928" cy="56692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069079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4470F"/>
                </a:solidFill>
                <a:latin typeface="Calibri"/>
              </a:rPr>
              <a:t>Des crédits oubliés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61772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7776A"/>
                </a:solidFill>
                <a:latin typeface="Calibri"/>
              </a:rPr>
              <a:t>Qui doit quoi, depuis quand ? Aucun rappel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3F7D1E"/>
                </a:solidFill>
                <a:latin typeface="Calibri"/>
              </a:rPr>
              <a:t>Résultat : du temps perdu, des pertes d'argent et de marchandises.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Boutika : un seul espace pour toute la boutique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64208" y="1920240"/>
            <a:ext cx="566928" cy="566928"/>
          </a:xfrm>
          <a:prstGeom prst="ellipse">
            <a:avLst/>
          </a:prstGeom>
          <a:solidFill>
            <a:srgbClr val="244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28C28"/>
                </a:solidFill>
                <a:latin typeface="Calibri"/>
              </a:rPr>
              <a:t>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7432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4470F"/>
                </a:solidFill>
                <a:latin typeface="Calibri"/>
              </a:rPr>
              <a:t>Gérant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918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67776A"/>
                </a:solidFill>
                <a:latin typeface="Calibri"/>
              </a:rPr>
              <a:t>Voit tout : chiffres, stock, équipe, réglages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53128" y="1920240"/>
            <a:ext cx="566928" cy="566928"/>
          </a:xfrm>
          <a:prstGeom prst="ellipse">
            <a:avLst/>
          </a:prstGeom>
          <a:solidFill>
            <a:srgbClr val="244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28C28"/>
                </a:solidFill>
                <a:latin typeface="Calibri"/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7432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4470F"/>
                </a:solidFill>
                <a:latin typeface="Calibri"/>
              </a:rPr>
              <a:t>Responsable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2918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67776A"/>
                </a:solidFill>
                <a:latin typeface="Calibri"/>
              </a:rPr>
              <a:t>Stock, achats, dépenses et rapports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42048" y="1920240"/>
            <a:ext cx="566928" cy="566928"/>
          </a:xfrm>
          <a:prstGeom prst="ellipse">
            <a:avLst/>
          </a:prstGeom>
          <a:solidFill>
            <a:srgbClr val="244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28C28"/>
                </a:solidFill>
                <a:latin typeface="Calibri"/>
              </a:rP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4470F"/>
                </a:solidFill>
                <a:latin typeface="Calibri"/>
              </a:rPr>
              <a:t>Vendeur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918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67776A"/>
                </a:solidFill>
                <a:latin typeface="Calibri"/>
              </a:rPr>
              <a:t>Caisse, clients, ses ventes — sans voir les marges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64592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30967" y="1920240"/>
            <a:ext cx="566928" cy="566928"/>
          </a:xfrm>
          <a:prstGeom prst="ellipse">
            <a:avLst/>
          </a:prstGeom>
          <a:solidFill>
            <a:srgbClr val="244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28C28"/>
                </a:solidFill>
                <a:latin typeface="Calibri"/>
              </a:rPr>
              <a:t>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27432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4470F"/>
                </a:solidFill>
                <a:latin typeface="Calibri"/>
              </a:rPr>
              <a:t>Livreur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32918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67776A"/>
                </a:solidFill>
                <a:latin typeface="Calibri"/>
              </a:rPr>
              <a:t>Ses courses : appeler, itinéraire, encaisser, signaler un échec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57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B2A1E"/>
                </a:solidFill>
                <a:latin typeface="Calibri"/>
              </a:rPr>
              <a:t>Chacun se connecte avec son compte et ne voit que ce qui le concerne. Installable sur téléphone, tablette et ordinateur — aucun matériel à acheter.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Une caisse rapide, tactile, qui scanne</a:t>
            </a:r>
          </a:p>
        </p:txBody>
      </p:sp>
      <p:pic>
        <p:nvPicPr>
          <p:cNvPr id="3" name="Picture 2" descr="20-cai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766560" cy="422910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4" name="Oval 3"/>
          <p:cNvSpPr/>
          <p:nvPr/>
        </p:nvSpPr>
        <p:spPr>
          <a:xfrm>
            <a:off x="7772400" y="169164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39327" y="167335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Touchez ou scannez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39327" y="1965960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lecteur USB ou caméra du téléphone</a:t>
            </a:r>
          </a:p>
        </p:txBody>
      </p:sp>
      <p:sp>
        <p:nvSpPr>
          <p:cNvPr id="7" name="Oval 6"/>
          <p:cNvSpPr/>
          <p:nvPr/>
        </p:nvSpPr>
        <p:spPr>
          <a:xfrm>
            <a:off x="7772400" y="256032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7" y="254203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Espèces, carte, CCP ou crédit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9327" y="2834639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rendu de monnaie automatique</a:t>
            </a:r>
          </a:p>
        </p:txBody>
      </p:sp>
      <p:sp>
        <p:nvSpPr>
          <p:cNvPr id="10" name="Oval 9"/>
          <p:cNvSpPr/>
          <p:nvPr/>
        </p:nvSpPr>
        <p:spPr>
          <a:xfrm>
            <a:off x="7772400" y="342900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7" y="341071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Vente au poids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3703320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kg, g, litres : 2,5 kg en un geste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429768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427939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Ticket imprimable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4572000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80 mm, avec TVA si besoin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La livraison, du panier à l'argent reçu</a:t>
            </a:r>
          </a:p>
        </p:txBody>
      </p:sp>
      <p:pic>
        <p:nvPicPr>
          <p:cNvPr id="3" name="Picture 2" descr="40-livrais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486400" cy="342900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pic>
        <p:nvPicPr>
          <p:cNvPr id="4" name="Picture 3" descr="m-40-cour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71600"/>
            <a:ext cx="2154907" cy="466344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502920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B2A1E"/>
                </a:solidFill>
                <a:latin typeface="Calibri"/>
              </a:rPr>
              <a:t>Tarifs par wilaya, livraison gratuite dès un montant</a:t>
            </a:r>
          </a:p>
          <a:p>
            <a:pPr algn="l">
              <a:spcBef>
                <a:spcPts val="720"/>
              </a:spcBef>
            </a:pPr>
            <a:r>
              <a:rPr sz="1600" b="0" i="0">
                <a:solidFill>
                  <a:srgbClr val="1B2A1E"/>
                </a:solidFill>
                <a:latin typeface="Calibri"/>
              </a:rPr>
              <a:t>Paiement à la livraison ou déjà payé (CCP, carte)</a:t>
            </a:r>
          </a:p>
          <a:p>
            <a:pPr algn="l">
              <a:spcBef>
                <a:spcPts val="720"/>
              </a:spcBef>
            </a:pPr>
            <a:r>
              <a:rPr sz="1600" b="0" i="0">
                <a:solidFill>
                  <a:srgbClr val="1B2A1E"/>
                </a:solidFill>
                <a:latin typeface="Calibri"/>
              </a:rPr>
              <a:t>Remise des fonds : savoir quel livreur doit combien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Un stock sous contrôle, sans perte</a:t>
            </a:r>
          </a:p>
        </p:txBody>
      </p:sp>
      <p:pic>
        <p:nvPicPr>
          <p:cNvPr id="3" name="Picture 2" descr="50-stock-aler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766560" cy="422910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4" name="Oval 3"/>
          <p:cNvSpPr/>
          <p:nvPr/>
        </p:nvSpPr>
        <p:spPr>
          <a:xfrm>
            <a:off x="7772400" y="169164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39327" y="167335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Alertes automatiques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39327" y="1965960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ruptures, stock bas, péremption proche</a:t>
            </a:r>
          </a:p>
        </p:txBody>
      </p:sp>
      <p:sp>
        <p:nvSpPr>
          <p:cNvPr id="7" name="Oval 6"/>
          <p:cNvSpPr/>
          <p:nvPr/>
        </p:nvSpPr>
        <p:spPr>
          <a:xfrm>
            <a:off x="7772400" y="256032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7" y="254203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Inventaire en quelques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9327" y="2834639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seuls les écarts sont enregistrés</a:t>
            </a:r>
          </a:p>
        </p:txBody>
      </p:sp>
      <p:sp>
        <p:nvSpPr>
          <p:cNvPr id="10" name="Oval 9"/>
          <p:cNvSpPr/>
          <p:nvPr/>
        </p:nvSpPr>
        <p:spPr>
          <a:xfrm>
            <a:off x="7772400" y="342900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7" y="341071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Achats et fournisseurs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3703320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prix d'achat moyen, dettes suivies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429768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427939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Journal des mouvements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4572000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qui a fait quoi, quand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Clients à crédit et fournisseurs maîtrisés</a:t>
            </a:r>
          </a:p>
        </p:txBody>
      </p:sp>
      <p:pic>
        <p:nvPicPr>
          <p:cNvPr id="3" name="Picture 2" descr="61-client-fi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394960" cy="337185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pic>
        <p:nvPicPr>
          <p:cNvPr id="4" name="Picture 3" descr="56-achat-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394960" cy="337185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5029200"/>
            <a:ext cx="5394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B2A1E"/>
                </a:solidFill>
                <a:latin typeface="Calibri"/>
              </a:rPr>
              <a:t>Fiche client : achats, solde dû, versements</a:t>
            </a:r>
          </a:p>
          <a:p>
            <a:pPr algn="l">
              <a:spcBef>
                <a:spcPts val="720"/>
              </a:spcBef>
            </a:pPr>
            <a:r>
              <a:rPr sz="1600" b="0" i="0">
                <a:solidFill>
                  <a:srgbClr val="1B2A1E"/>
                </a:solidFill>
                <a:latin typeface="Calibri"/>
              </a:rPr>
              <a:t>Rappel WhatsApp en un geste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5029200"/>
            <a:ext cx="5394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B2A1E"/>
                </a:solidFill>
                <a:latin typeface="Calibri"/>
              </a:rPr>
              <a:t>Achat : stock et prix d'achat mis à jour</a:t>
            </a:r>
          </a:p>
          <a:p>
            <a:pPr algn="l">
              <a:spcBef>
                <a:spcPts val="720"/>
              </a:spcBef>
            </a:pPr>
            <a:r>
              <a:rPr sz="1600" b="0" i="0">
                <a:solidFill>
                  <a:srgbClr val="1B2A1E"/>
                </a:solidFill>
                <a:latin typeface="Calibri"/>
              </a:rPr>
              <a:t>Dettes fournisseurs visibles et réglables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Les chiffres clairs, jour après jour</a:t>
            </a:r>
          </a:p>
        </p:txBody>
      </p:sp>
      <p:pic>
        <p:nvPicPr>
          <p:cNvPr id="3" name="Picture 2" descr="10-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852160" cy="365760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pic>
        <p:nvPicPr>
          <p:cNvPr id="4" name="Picture 3" descr="71-rap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463040"/>
            <a:ext cx="4937760" cy="308610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4937760"/>
            <a:ext cx="5852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B2A1E"/>
                </a:solidFill>
                <a:latin typeface="Calibri"/>
              </a:rPr>
              <a:t>Ventes et bénéfice du jour et du mois</a:t>
            </a:r>
          </a:p>
          <a:p>
            <a:pPr algn="l">
              <a:spcBef>
                <a:spcPts val="720"/>
              </a:spcBef>
            </a:pPr>
            <a:r>
              <a:rPr sz="1600" b="0" i="0">
                <a:solidFill>
                  <a:srgbClr val="1B2A1E"/>
                </a:solidFill>
                <a:latin typeface="Calibri"/>
              </a:rPr>
              <a:t>Meilleurs produits, résultat après dépenses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493776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B2A1E"/>
                </a:solidFill>
                <a:latin typeface="Calibri"/>
              </a:rPr>
              <a:t>Rapports par jour, catégorie, vendeur, mode de paiement</a:t>
            </a:r>
          </a:p>
          <a:p>
            <a:pPr algn="l">
              <a:spcBef>
                <a:spcPts val="720"/>
              </a:spcBef>
            </a:pPr>
            <a:r>
              <a:rPr sz="1600" b="0" i="0">
                <a:solidFill>
                  <a:srgbClr val="1B2A1E"/>
                </a:solidFill>
                <a:latin typeface="Calibri"/>
              </a:rPr>
              <a:t>Export CSV pour Excel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Universel : un modèle pour chaque commerce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73736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0" i="0">
                <a:solidFill>
                  <a:srgbClr val="1B2A1E"/>
                </a:solidFill>
                <a:latin typeface="Calibri"/>
              </a:rPr>
              <a:t>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5603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24470F"/>
                </a:solidFill>
                <a:latin typeface="Calibri"/>
              </a:rPr>
              <a:t>Kiosque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67776A"/>
                </a:solidFill>
                <a:latin typeface="Calibri"/>
              </a:rPr>
              <a:t>Boissons, snacks, recharges, presse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73736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0" i="0">
                <a:solidFill>
                  <a:srgbClr val="1B2A1E"/>
                </a:solidFill>
                <a:latin typeface="Calibri"/>
              </a:rPr>
              <a:t>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5603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24470F"/>
                </a:solidFill>
                <a:latin typeface="Calibri"/>
              </a:rPr>
              <a:t>Cosmétique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06324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67776A"/>
                </a:solidFill>
                <a:latin typeface="Calibri"/>
              </a:rPr>
              <a:t>Teintes, variantes, péremption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0" i="0">
                <a:solidFill>
                  <a:srgbClr val="1B2A1E"/>
                </a:solidFill>
                <a:latin typeface="Calibri"/>
              </a:rPr>
              <a:t>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24470F"/>
                </a:solidFill>
                <a:latin typeface="Calibri"/>
              </a:rPr>
              <a:t>Alimentation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06324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67776A"/>
                </a:solidFill>
                <a:latin typeface="Calibri"/>
              </a:rPr>
              <a:t>Vente au poids, dates limites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55448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173736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0" i="0">
                <a:solidFill>
                  <a:srgbClr val="1B2A1E"/>
                </a:solidFill>
                <a:latin typeface="Calibri"/>
              </a:rPr>
              <a:t>🛍️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25603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24470F"/>
                </a:solidFill>
                <a:latin typeface="Calibri"/>
              </a:rPr>
              <a:t>Commerce général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306324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67776A"/>
                </a:solidFill>
                <a:latin typeface="Calibri"/>
              </a:rPr>
              <a:t>Tout autre commerce de détail</a:t>
            </a:r>
          </a:p>
        </p:txBody>
      </p:sp>
      <p:pic>
        <p:nvPicPr>
          <p:cNvPr id="19" name="Picture 18" descr="11-bien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0"/>
            <a:ext cx="3438144" cy="214884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5669280" y="4297680"/>
            <a:ext cx="5943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B2A1E"/>
                </a:solidFill>
                <a:latin typeface="Calibri"/>
              </a:rPr>
              <a:t>Au premier lancement, un choix suffit : catégories, options et produits d'exemple sont préparés.</a:t>
            </a:r>
          </a:p>
          <a:p>
            <a:pPr algn="l">
              <a:spcBef>
                <a:spcPts val="765"/>
              </a:spcBef>
            </a:pPr>
            <a:r>
              <a:rPr sz="1700" b="0" i="0">
                <a:solidFill>
                  <a:srgbClr val="1B2A1E"/>
                </a:solidFill>
                <a:latin typeface="Calibri"/>
              </a:rPr>
              <a:t>Tout reste modifiable ensuite.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Sur téléphone, comme une vraie application</a:t>
            </a:r>
          </a:p>
        </p:txBody>
      </p:sp>
      <p:pic>
        <p:nvPicPr>
          <p:cNvPr id="3" name="Picture 2" descr="m-20-cai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2197160" cy="475488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pic>
        <p:nvPicPr>
          <p:cNvPr id="4" name="Picture 3" descr="m-21-pan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463040"/>
            <a:ext cx="2197160" cy="475488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5" name="Oval 4"/>
          <p:cNvSpPr/>
          <p:nvPr/>
        </p:nvSpPr>
        <p:spPr>
          <a:xfrm>
            <a:off x="6766560" y="173736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3488" y="1719072"/>
            <a:ext cx="4370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Installable en un geste</a:t>
            </a:r>
          </a:p>
        </p:txBody>
      </p:sp>
      <p:sp>
        <p:nvSpPr>
          <p:cNvPr id="7" name="Oval 6"/>
          <p:cNvSpPr/>
          <p:nvPr/>
        </p:nvSpPr>
        <p:spPr>
          <a:xfrm>
            <a:off x="6766560" y="2345436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3488" y="2327148"/>
            <a:ext cx="4370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Caisse et scan par la caméra</a:t>
            </a:r>
          </a:p>
        </p:txBody>
      </p:sp>
      <p:sp>
        <p:nvSpPr>
          <p:cNvPr id="9" name="Oval 8"/>
          <p:cNvSpPr/>
          <p:nvPr/>
        </p:nvSpPr>
        <p:spPr>
          <a:xfrm>
            <a:off x="6766560" y="2953512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2935224"/>
            <a:ext cx="4370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Menu du bas pensé pour le pouce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0" y="3561588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3543300"/>
            <a:ext cx="4370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Mode sombre, arabe de droite à gauche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Français, arabe, anglais — sur tous les écrans</a:t>
            </a:r>
          </a:p>
        </p:txBody>
      </p:sp>
      <p:pic>
        <p:nvPicPr>
          <p:cNvPr id="3" name="Picture 2" descr="10-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029200" cy="314325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pic>
        <p:nvPicPr>
          <p:cNvPr id="4" name="Picture 3" descr="75-somb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029200" cy="314325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4892040"/>
            <a:ext cx="5303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Arabe de droite à gauche, chiffres et dates adaptés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4892040"/>
            <a:ext cx="5303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Mode clair ou sombre, au choix de chacun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6C98A"/>
                </a:solidFill>
                <a:latin typeface="Calibri"/>
              </a:rPr>
              <a:t>Boutika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A6C9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Pour l'éditeur : vendre à plusieurs boutiques</a:t>
            </a:r>
          </a:p>
        </p:txBody>
      </p:sp>
      <p:pic>
        <p:nvPicPr>
          <p:cNvPr id="3" name="Picture 2" descr="90-bouti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852160" cy="365760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4" name="Oval 3"/>
          <p:cNvSpPr/>
          <p:nvPr/>
        </p:nvSpPr>
        <p:spPr>
          <a:xfrm>
            <a:off x="6858000" y="169164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4927" y="1673352"/>
            <a:ext cx="4279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Une boutique = un espace séparé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4927" y="1965960"/>
            <a:ext cx="4279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code entreprise, gérant, message de bienvenue</a:t>
            </a:r>
          </a:p>
        </p:txBody>
      </p:sp>
      <p:sp>
        <p:nvSpPr>
          <p:cNvPr id="7" name="Oval 6"/>
          <p:cNvSpPr/>
          <p:nvPr/>
        </p:nvSpPr>
        <p:spPr>
          <a:xfrm>
            <a:off x="6858000" y="256032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4927" y="2542032"/>
            <a:ext cx="4279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Licence et statut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7" y="2834639"/>
            <a:ext cx="4279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essai, actif, suspendu — effet immédiat</a:t>
            </a:r>
          </a:p>
        </p:txBody>
      </p:sp>
      <p:sp>
        <p:nvSpPr>
          <p:cNvPr id="10" name="Oval 9"/>
          <p:cNvSpPr/>
          <p:nvPr/>
        </p:nvSpPr>
        <p:spPr>
          <a:xfrm>
            <a:off x="6858000" y="342900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4927" y="3410712"/>
            <a:ext cx="4279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Essais gratuits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3703320"/>
            <a:ext cx="4279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demandes reçues et converties en un clic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0" y="429768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7" y="4279392"/>
            <a:ext cx="4279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Support à distance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7" y="4572000"/>
            <a:ext cx="4279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entrer dans une boutique, journalisé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Vos données sont protégées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4470F"/>
                </a:solidFill>
                <a:latin typeface="Calibri"/>
              </a:rPr>
              <a:t>Un espace par boutique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Aucune donnée mélangée entre boutiques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002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4470F"/>
                </a:solidFill>
                <a:latin typeface="Calibri"/>
              </a:rPr>
              <a:t>Droits par profil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46888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Chacun ne voit que son périmètre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6002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4470F"/>
                </a:solidFill>
                <a:latin typeface="Calibri"/>
              </a:rPr>
              <a:t>Mots de passe protégés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46888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Empreinte salée, blocage après essais répétés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4470F"/>
                </a:solidFill>
                <a:latin typeface="Calibri"/>
              </a:rPr>
              <a:t>Accès support journalisé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Jamais avec les droits d'éditeur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8404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4114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4470F"/>
                </a:solidFill>
                <a:latin typeface="Calibri"/>
              </a:rPr>
              <a:t>Hébergement au choix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70916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Google Apps Script ou PHP / MySQL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38404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114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4470F"/>
                </a:solidFill>
                <a:latin typeface="Calibri"/>
              </a:rPr>
              <a:t>Données exportables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70916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CSV, sauvegarde de la base à tout moment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Démarrer en trois étapes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352044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4470F"/>
                </a:solidFill>
                <a:latin typeface="Calibri"/>
              </a:rPr>
              <a:t>Demandez votre essai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Un formulaire sur la page d'accueil de Boutika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52044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63440" y="1920240"/>
            <a:ext cx="640080" cy="64008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74320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4470F"/>
                </a:solidFill>
                <a:latin typeface="Calibri"/>
              </a:rPr>
              <a:t>Nous préparons votre boutique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47472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Comptes, catégories, produits : nous vous guidons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1645920"/>
            <a:ext cx="352044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0" y="1920240"/>
            <a:ext cx="640080" cy="64008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74320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4470F"/>
                </a:solidFill>
                <a:latin typeface="Calibri"/>
              </a:rPr>
              <a:t>Vous vendez, nous suivons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47472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Aide dans l'application et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77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F7D1E"/>
                </a:solidFill>
                <a:latin typeface="Calibri"/>
              </a:rPr>
              <a:t>Formules : mensuelle · annuelle · paiement unique — tarifs communiqués sur demande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578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B2A1E"/>
                </a:solidFill>
                <a:latin typeface="Calibri"/>
              </a:rPr>
              <a:t>Essai gratuit sans engagement : toutes les fonctions, avec vos vraies données.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28C28"/>
                </a:solidFill>
                <a:latin typeface="Cambria"/>
              </a:rPr>
              <a:t>Essayez Boutika dans votre commerce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Page d'accueil et demande d'essai : rayanem-dev.github.io/boutika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CEBCB"/>
                </a:solidFill>
                <a:latin typeface="Calibri"/>
              </a:rPr>
              <a:t>Rayane Redha Madani — Rayane M., éditeur de Boutika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0670779792  ·  rayanem@gmail.com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28C28"/>
                </a:solidFill>
                <a:latin typeface="Calibri"/>
              </a:rPr>
              <a:t>Boutika — votre commerce, simple et beau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6C98A"/>
                </a:solidFill>
                <a:latin typeface="Calibri"/>
              </a:rPr>
              <a:t>Boutika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A6C9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