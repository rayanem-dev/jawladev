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de Siraj aux directeurs d'écoles de soutien (environ 12 minutes), démonstration en direct à la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Proposer une démonstration en direct sur l'école de démonstration, puis ouvrir la demande d'essai avec le directeur.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B40"/>
        </a:solidFill>
        <a:effectLst/>
      </p:bgPr>
    </p:bg>
    <p:spTree>
      <p:nvGrpSpPr>
        <p:cNvPr id="1" name=""/>
        <p:cNvGrpSpPr/>
        <p:nvPr/>
      </p:nvGrpSpPr>
      <p:grpSpPr/>
      <p:pic>
        <p:nvPicPr>
          <p:cNvPr id="2" name="Picture 1" descr="icon-512.png"/>
          <p:cNvPicPr>
            <a:picLocks noChangeAspect="1"/>
          </p:cNvPicPr>
          <p:nvPr/>
        </p:nvPicPr>
        <p:blipFill>
          <a:blip r:embed="rId2"/>
          <a:stretch>
            <a:fillRect/>
          </a:stretch>
        </p:blipFill>
        <p:spPr>
          <a:xfrm>
            <a:off x="822960" y="1371600"/>
            <a:ext cx="2194560" cy="2194560"/>
          </a:xfrm>
          <a:prstGeom prst="rect">
            <a:avLst/>
          </a:prstGeom>
        </p:spPr>
      </p:pic>
      <p:sp>
        <p:nvSpPr>
          <p:cNvPr id="3" name="TextBox 2"/>
          <p:cNvSpPr txBox="1"/>
          <p:nvPr/>
        </p:nvSpPr>
        <p:spPr>
          <a:xfrm>
            <a:off x="3657600" y="1371600"/>
            <a:ext cx="7863840" cy="1188720"/>
          </a:xfrm>
          <a:prstGeom prst="rect">
            <a:avLst/>
          </a:prstGeom>
          <a:noFill/>
        </p:spPr>
        <p:txBody>
          <a:bodyPr wrap="square" anchor="ctr" lIns="0" rIns="0" tIns="0" bIns="0">
            <a:spAutoFit/>
          </a:bodyPr>
          <a:lstStyle/>
          <a:p>
            <a:pPr algn="l"/>
            <a:r>
              <a:rPr sz="6000" b="1" i="0">
                <a:solidFill>
                  <a:srgbClr val="E8B84A"/>
                </a:solidFill>
                <a:latin typeface="Cambria"/>
              </a:rPr>
              <a:t>SIRAJ  سراج</a:t>
            </a:r>
          </a:p>
        </p:txBody>
      </p:sp>
      <p:sp>
        <p:nvSpPr>
          <p:cNvPr id="4" name="TextBox 3"/>
          <p:cNvSpPr txBox="1"/>
          <p:nvPr/>
        </p:nvSpPr>
        <p:spPr>
          <a:xfrm>
            <a:off x="3657600" y="2651760"/>
            <a:ext cx="7680960" cy="1097280"/>
          </a:xfrm>
          <a:prstGeom prst="rect">
            <a:avLst/>
          </a:prstGeom>
          <a:noFill/>
        </p:spPr>
        <p:txBody>
          <a:bodyPr wrap="square" anchor="t" lIns="0" rIns="0" tIns="0" bIns="0">
            <a:spAutoFit/>
          </a:bodyPr>
          <a:lstStyle/>
          <a:p>
            <a:pPr algn="l"/>
            <a:r>
              <a:rPr sz="2800" b="0" i="0">
                <a:solidFill>
                  <a:srgbClr val="FFFFFF"/>
                </a:solidFill>
                <a:latin typeface="Cambria"/>
              </a:rPr>
              <a:t>La gestion de votre école de soutien, simple et claire</a:t>
            </a:r>
          </a:p>
        </p:txBody>
      </p:sp>
      <p:sp>
        <p:nvSpPr>
          <p:cNvPr id="5" name="TextBox 4"/>
          <p:cNvSpPr txBox="1"/>
          <p:nvPr/>
        </p:nvSpPr>
        <p:spPr>
          <a:xfrm>
            <a:off x="3657600" y="4160520"/>
            <a:ext cx="7680960" cy="914400"/>
          </a:xfrm>
          <a:prstGeom prst="rect">
            <a:avLst/>
          </a:prstGeom>
          <a:noFill/>
        </p:spPr>
        <p:txBody>
          <a:bodyPr wrap="square" anchor="t" lIns="0" rIns="0" tIns="0" bIns="0">
            <a:spAutoFit/>
          </a:bodyPr>
          <a:lstStyle/>
          <a:p>
            <a:pPr algn="l"/>
            <a:r>
              <a:rPr sz="1800" b="0" i="0">
                <a:solidFill>
                  <a:srgbClr val="CADCFC"/>
                </a:solidFill>
                <a:latin typeface="Calibri"/>
              </a:rPr>
              <a:t>إدارة ذكية وبسيطة لمدارس الدعم : الدروس، الحصص، التلاميذ، المدفوعات، التقييم، والجداول الزمنية المشتركة</a:t>
            </a:r>
          </a:p>
        </p:txBody>
      </p:sp>
      <p:sp>
        <p:nvSpPr>
          <p:cNvPr id="6" name="TextBox 5"/>
          <p:cNvSpPr txBox="1"/>
          <p:nvPr/>
        </p:nvSpPr>
        <p:spPr>
          <a:xfrm>
            <a:off x="822960" y="5943600"/>
            <a:ext cx="10058400" cy="365760"/>
          </a:xfrm>
          <a:prstGeom prst="rect">
            <a:avLst/>
          </a:prstGeom>
          <a:noFill/>
        </p:spPr>
        <p:txBody>
          <a:bodyPr wrap="square" anchor="t" lIns="0" rIns="0" tIns="0" bIns="0">
            <a:spAutoFit/>
          </a:bodyPr>
          <a:lstStyle/>
          <a:p>
            <a:pPr algn="l"/>
            <a:r>
              <a:rPr sz="1400" b="0" i="0">
                <a:solidFill>
                  <a:srgbClr val="9FB4FF"/>
                </a:solidFill>
                <a:latin typeface="Calibri"/>
              </a:rPr>
              <a:t>Cours · élèves · paiements · évaluations · calendrier partagé — en français, arabe et anglais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Aujourd'hui, la gestion se fait « à la main »</a:t>
            </a:r>
          </a:p>
        </p:txBody>
      </p:sp>
      <p:sp>
        <p:nvSpPr>
          <p:cNvPr id="3" name="Rounded Rectangle 2"/>
          <p:cNvSpPr/>
          <p:nvPr/>
        </p:nvSpPr>
        <p:spPr>
          <a:xfrm>
            <a:off x="640080" y="1600200"/>
            <a:ext cx="5303520" cy="182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19" y="1965960"/>
            <a:ext cx="566928" cy="56692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E1B40"/>
                </a:solidFill>
                <a:latin typeface="Calibri"/>
              </a:rPr>
              <a:t>1</a:t>
            </a:r>
          </a:p>
        </p:txBody>
      </p:sp>
      <p:sp>
        <p:nvSpPr>
          <p:cNvPr id="5" name="TextBox 4"/>
          <p:cNvSpPr txBox="1"/>
          <p:nvPr/>
        </p:nvSpPr>
        <p:spPr>
          <a:xfrm>
            <a:off x="1737360" y="1920240"/>
            <a:ext cx="3931920" cy="457200"/>
          </a:xfrm>
          <a:prstGeom prst="rect">
            <a:avLst/>
          </a:prstGeom>
          <a:noFill/>
        </p:spPr>
        <p:txBody>
          <a:bodyPr wrap="square" anchor="t" lIns="0" rIns="0" tIns="0" bIns="0">
            <a:spAutoFit/>
          </a:bodyPr>
          <a:lstStyle/>
          <a:p>
            <a:pPr algn="l"/>
            <a:r>
              <a:rPr sz="2000" b="1" i="0">
                <a:solidFill>
                  <a:srgbClr val="0E1B40"/>
                </a:solidFill>
                <a:latin typeface="Calibri"/>
              </a:rPr>
              <a:t>Des cahiers et des feuilles Excel</a:t>
            </a:r>
          </a:p>
        </p:txBody>
      </p:sp>
      <p:sp>
        <p:nvSpPr>
          <p:cNvPr id="6" name="TextBox 5"/>
          <p:cNvSpPr txBox="1"/>
          <p:nvPr/>
        </p:nvSpPr>
        <p:spPr>
          <a:xfrm>
            <a:off x="1737360" y="2468880"/>
            <a:ext cx="3931920" cy="822960"/>
          </a:xfrm>
          <a:prstGeom prst="rect">
            <a:avLst/>
          </a:prstGeom>
          <a:noFill/>
        </p:spPr>
        <p:txBody>
          <a:bodyPr wrap="square" anchor="t" lIns="0" rIns="0" tIns="0" bIns="0">
            <a:spAutoFit/>
          </a:bodyPr>
          <a:lstStyle/>
          <a:p>
            <a:pPr algn="l"/>
            <a:r>
              <a:rPr sz="1600" b="0" i="0">
                <a:solidFill>
                  <a:srgbClr val="6B7385"/>
                </a:solidFill>
                <a:latin typeface="Calibri"/>
              </a:rPr>
              <a:t>Présences et inscriptions dispersées, difficiles à retrouver</a:t>
            </a:r>
          </a:p>
        </p:txBody>
      </p:sp>
      <p:sp>
        <p:nvSpPr>
          <p:cNvPr id="7" name="Rounded Rectangle 6"/>
          <p:cNvSpPr/>
          <p:nvPr/>
        </p:nvSpPr>
        <p:spPr>
          <a:xfrm>
            <a:off x="6217920" y="1600200"/>
            <a:ext cx="5303520" cy="182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37959" y="1965960"/>
            <a:ext cx="566928" cy="56692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E1B40"/>
                </a:solidFill>
                <a:latin typeface="Calibri"/>
              </a:rPr>
              <a:t>2</a:t>
            </a:r>
          </a:p>
        </p:txBody>
      </p:sp>
      <p:sp>
        <p:nvSpPr>
          <p:cNvPr id="9" name="TextBox 8"/>
          <p:cNvSpPr txBox="1"/>
          <p:nvPr/>
        </p:nvSpPr>
        <p:spPr>
          <a:xfrm>
            <a:off x="7315200" y="1920240"/>
            <a:ext cx="3931920" cy="457200"/>
          </a:xfrm>
          <a:prstGeom prst="rect">
            <a:avLst/>
          </a:prstGeom>
          <a:noFill/>
        </p:spPr>
        <p:txBody>
          <a:bodyPr wrap="square" anchor="t" lIns="0" rIns="0" tIns="0" bIns="0">
            <a:spAutoFit/>
          </a:bodyPr>
          <a:lstStyle/>
          <a:p>
            <a:pPr algn="l"/>
            <a:r>
              <a:rPr sz="2000" b="1" i="0">
                <a:solidFill>
                  <a:srgbClr val="0E1B40"/>
                </a:solidFill>
                <a:latin typeface="Calibri"/>
              </a:rPr>
              <a:t>Des paiements suivis de mémoire</a:t>
            </a:r>
          </a:p>
        </p:txBody>
      </p:sp>
      <p:sp>
        <p:nvSpPr>
          <p:cNvPr id="10" name="TextBox 9"/>
          <p:cNvSpPr txBox="1"/>
          <p:nvPr/>
        </p:nvSpPr>
        <p:spPr>
          <a:xfrm>
            <a:off x="7315200" y="2468880"/>
            <a:ext cx="3931920" cy="822960"/>
          </a:xfrm>
          <a:prstGeom prst="rect">
            <a:avLst/>
          </a:prstGeom>
          <a:noFill/>
        </p:spPr>
        <p:txBody>
          <a:bodyPr wrap="square" anchor="t" lIns="0" rIns="0" tIns="0" bIns="0">
            <a:spAutoFit/>
          </a:bodyPr>
          <a:lstStyle/>
          <a:p>
            <a:pPr algn="l"/>
            <a:r>
              <a:rPr sz="1600" b="0" i="0">
                <a:solidFill>
                  <a:srgbClr val="6B7385"/>
                </a:solidFill>
                <a:latin typeface="Calibri"/>
              </a:rPr>
              <a:t>Oublis, impayés découverts trop tard, reçus faits à la main</a:t>
            </a:r>
          </a:p>
        </p:txBody>
      </p:sp>
      <p:sp>
        <p:nvSpPr>
          <p:cNvPr id="11" name="Rounded Rectangle 10"/>
          <p:cNvSpPr/>
          <p:nvPr/>
        </p:nvSpPr>
        <p:spPr>
          <a:xfrm>
            <a:off x="640080" y="3749039"/>
            <a:ext cx="5303520" cy="182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19" y="4114800"/>
            <a:ext cx="566928" cy="56692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E1B40"/>
                </a:solidFill>
                <a:latin typeface="Calibri"/>
              </a:rPr>
              <a:t>3</a:t>
            </a:r>
          </a:p>
        </p:txBody>
      </p:sp>
      <p:sp>
        <p:nvSpPr>
          <p:cNvPr id="13" name="TextBox 12"/>
          <p:cNvSpPr txBox="1"/>
          <p:nvPr/>
        </p:nvSpPr>
        <p:spPr>
          <a:xfrm>
            <a:off x="1737360" y="4069079"/>
            <a:ext cx="3931920" cy="457200"/>
          </a:xfrm>
          <a:prstGeom prst="rect">
            <a:avLst/>
          </a:prstGeom>
          <a:noFill/>
        </p:spPr>
        <p:txBody>
          <a:bodyPr wrap="square" anchor="t" lIns="0" rIns="0" tIns="0" bIns="0">
            <a:spAutoFit/>
          </a:bodyPr>
          <a:lstStyle/>
          <a:p>
            <a:pPr algn="l"/>
            <a:r>
              <a:rPr sz="2000" b="1" i="0">
                <a:solidFill>
                  <a:srgbClr val="0E1B40"/>
                </a:solidFill>
                <a:latin typeface="Calibri"/>
              </a:rPr>
              <a:t>Des messages WhatsApp partout</a:t>
            </a:r>
          </a:p>
        </p:txBody>
      </p:sp>
      <p:sp>
        <p:nvSpPr>
          <p:cNvPr id="14" name="TextBox 13"/>
          <p:cNvSpPr txBox="1"/>
          <p:nvPr/>
        </p:nvSpPr>
        <p:spPr>
          <a:xfrm>
            <a:off x="1737360" y="4617720"/>
            <a:ext cx="3931920" cy="822960"/>
          </a:xfrm>
          <a:prstGeom prst="rect">
            <a:avLst/>
          </a:prstGeom>
          <a:noFill/>
        </p:spPr>
        <p:txBody>
          <a:bodyPr wrap="square" anchor="t" lIns="0" rIns="0" tIns="0" bIns="0">
            <a:spAutoFit/>
          </a:bodyPr>
          <a:lstStyle/>
          <a:p>
            <a:pPr algn="l"/>
            <a:r>
              <a:rPr sz="1600" b="0" i="0">
                <a:solidFill>
                  <a:srgbClr val="6B7385"/>
                </a:solidFill>
                <a:latin typeface="Calibri"/>
              </a:rPr>
              <a:t>Changements d'horaire noyés dans les groupes, parents mal informés</a:t>
            </a:r>
          </a:p>
        </p:txBody>
      </p:sp>
      <p:sp>
        <p:nvSpPr>
          <p:cNvPr id="15" name="Rounded Rectangle 14"/>
          <p:cNvSpPr/>
          <p:nvPr/>
        </p:nvSpPr>
        <p:spPr>
          <a:xfrm>
            <a:off x="6217920" y="3749039"/>
            <a:ext cx="5303520" cy="182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37959" y="4114800"/>
            <a:ext cx="566928" cy="56692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E1B40"/>
                </a:solidFill>
                <a:latin typeface="Calibri"/>
              </a:rPr>
              <a:t>4</a:t>
            </a:r>
          </a:p>
        </p:txBody>
      </p:sp>
      <p:sp>
        <p:nvSpPr>
          <p:cNvPr id="17" name="TextBox 16"/>
          <p:cNvSpPr txBox="1"/>
          <p:nvPr/>
        </p:nvSpPr>
        <p:spPr>
          <a:xfrm>
            <a:off x="7315200" y="4069079"/>
            <a:ext cx="3931920" cy="457200"/>
          </a:xfrm>
          <a:prstGeom prst="rect">
            <a:avLst/>
          </a:prstGeom>
          <a:noFill/>
        </p:spPr>
        <p:txBody>
          <a:bodyPr wrap="square" anchor="t" lIns="0" rIns="0" tIns="0" bIns="0">
            <a:spAutoFit/>
          </a:bodyPr>
          <a:lstStyle/>
          <a:p>
            <a:pPr algn="l"/>
            <a:r>
              <a:rPr sz="2000" b="1" i="0">
                <a:solidFill>
                  <a:srgbClr val="0E1B40"/>
                </a:solidFill>
                <a:latin typeface="Calibri"/>
              </a:rPr>
              <a:t>Peu de visibilité sur les comptes</a:t>
            </a:r>
          </a:p>
        </p:txBody>
      </p:sp>
      <p:sp>
        <p:nvSpPr>
          <p:cNvPr id="18" name="TextBox 17"/>
          <p:cNvSpPr txBox="1"/>
          <p:nvPr/>
        </p:nvSpPr>
        <p:spPr>
          <a:xfrm>
            <a:off x="7315200" y="4617720"/>
            <a:ext cx="3931920" cy="822960"/>
          </a:xfrm>
          <a:prstGeom prst="rect">
            <a:avLst/>
          </a:prstGeom>
          <a:noFill/>
        </p:spPr>
        <p:txBody>
          <a:bodyPr wrap="square" anchor="t" lIns="0" rIns="0" tIns="0" bIns="0">
            <a:spAutoFit/>
          </a:bodyPr>
          <a:lstStyle/>
          <a:p>
            <a:pPr algn="l"/>
            <a:r>
              <a:rPr sz="1600" b="0" i="0">
                <a:solidFill>
                  <a:srgbClr val="6B7385"/>
                </a:solidFill>
                <a:latin typeface="Calibri"/>
              </a:rPr>
              <a:t>Combien est encaissé ? Combien reste dû ? Que gagne chaque professeur ?</a:t>
            </a:r>
          </a:p>
        </p:txBody>
      </p:sp>
      <p:sp>
        <p:nvSpPr>
          <p:cNvPr id="19" name="TextBox 18"/>
          <p:cNvSpPr txBox="1"/>
          <p:nvPr/>
        </p:nvSpPr>
        <p:spPr>
          <a:xfrm>
            <a:off x="640080" y="5989320"/>
            <a:ext cx="10881360" cy="365760"/>
          </a:xfrm>
          <a:prstGeom prst="rect">
            <a:avLst/>
          </a:prstGeom>
          <a:noFill/>
        </p:spPr>
        <p:txBody>
          <a:bodyPr wrap="square" anchor="t" lIns="0" rIns="0" tIns="0" bIns="0">
            <a:spAutoFit/>
          </a:bodyPr>
          <a:lstStyle/>
          <a:p>
            <a:pPr algn="l"/>
            <a:r>
              <a:rPr sz="1700" b="0" i="1">
                <a:solidFill>
                  <a:srgbClr val="1F3470"/>
                </a:solidFill>
                <a:latin typeface="Calibri"/>
              </a:rPr>
              <a:t>Résultat : du temps perdu, des impayés, et des parents qui se sentent mal informés.</a:t>
            </a:r>
          </a:p>
        </p:txBody>
      </p:sp>
      <p:sp>
        <p:nvSpPr>
          <p:cNvPr id="20" name="TextBox 19"/>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21" name="TextBox 20"/>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Siraj : un seul espace pour toute l'école</a:t>
            </a:r>
          </a:p>
        </p:txBody>
      </p:sp>
      <p:sp>
        <p:nvSpPr>
          <p:cNvPr id="3" name="Rounded Rectangle 2"/>
          <p:cNvSpPr/>
          <p:nvPr/>
        </p:nvSpPr>
        <p:spPr>
          <a:xfrm>
            <a:off x="640080" y="1645920"/>
            <a:ext cx="2606040" cy="320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64208" y="1920240"/>
            <a:ext cx="566928" cy="566928"/>
          </a:xfrm>
          <a:prstGeom prst="ellipse">
            <a:avLst/>
          </a:prstGeom>
          <a:solidFill>
            <a:srgbClr val="0E1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E8B84A"/>
                </a:solidFill>
                <a:latin typeface="Calibri"/>
              </a:rPr>
              <a:t>D</a:t>
            </a:r>
          </a:p>
        </p:txBody>
      </p:sp>
      <p:sp>
        <p:nvSpPr>
          <p:cNvPr id="5" name="TextBox 4"/>
          <p:cNvSpPr txBox="1"/>
          <p:nvPr/>
        </p:nvSpPr>
        <p:spPr>
          <a:xfrm>
            <a:off x="822959" y="2743200"/>
            <a:ext cx="2240280" cy="457200"/>
          </a:xfrm>
          <a:prstGeom prst="rect">
            <a:avLst/>
          </a:prstGeom>
          <a:noFill/>
        </p:spPr>
        <p:txBody>
          <a:bodyPr wrap="square" anchor="t" lIns="0" rIns="0" tIns="0" bIns="0">
            <a:spAutoFit/>
          </a:bodyPr>
          <a:lstStyle/>
          <a:p>
            <a:pPr algn="ctr"/>
            <a:r>
              <a:rPr sz="2000" b="1" i="0">
                <a:solidFill>
                  <a:srgbClr val="0E1B40"/>
                </a:solidFill>
                <a:latin typeface="Calibri"/>
              </a:rPr>
              <a:t>Directeur</a:t>
            </a:r>
          </a:p>
        </p:txBody>
      </p:sp>
      <p:sp>
        <p:nvSpPr>
          <p:cNvPr id="6" name="TextBox 5"/>
          <p:cNvSpPr txBox="1"/>
          <p:nvPr/>
        </p:nvSpPr>
        <p:spPr>
          <a:xfrm>
            <a:off x="868680" y="3291840"/>
            <a:ext cx="2148840" cy="1463040"/>
          </a:xfrm>
          <a:prstGeom prst="rect">
            <a:avLst/>
          </a:prstGeom>
          <a:noFill/>
        </p:spPr>
        <p:txBody>
          <a:bodyPr wrap="square" anchor="t" lIns="0" rIns="0" tIns="0" bIns="0">
            <a:spAutoFit/>
          </a:bodyPr>
          <a:lstStyle/>
          <a:p>
            <a:pPr algn="ctr"/>
            <a:r>
              <a:rPr sz="1500" b="0" i="0">
                <a:solidFill>
                  <a:srgbClr val="6B7385"/>
                </a:solidFill>
                <a:latin typeface="Calibri"/>
              </a:rPr>
              <a:t>Pilote l'école : élèves, groupes, comptes</a:t>
            </a:r>
          </a:p>
        </p:txBody>
      </p:sp>
      <p:sp>
        <p:nvSpPr>
          <p:cNvPr id="7" name="Rounded Rectangle 6"/>
          <p:cNvSpPr/>
          <p:nvPr/>
        </p:nvSpPr>
        <p:spPr>
          <a:xfrm>
            <a:off x="3429000" y="1645920"/>
            <a:ext cx="2606040" cy="320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453128" y="1920240"/>
            <a:ext cx="566928" cy="566928"/>
          </a:xfrm>
          <a:prstGeom prst="ellipse">
            <a:avLst/>
          </a:prstGeom>
          <a:solidFill>
            <a:srgbClr val="0E1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E8B84A"/>
                </a:solidFill>
                <a:latin typeface="Calibri"/>
              </a:rPr>
              <a:t>S</a:t>
            </a:r>
          </a:p>
        </p:txBody>
      </p:sp>
      <p:sp>
        <p:nvSpPr>
          <p:cNvPr id="9" name="TextBox 8"/>
          <p:cNvSpPr txBox="1"/>
          <p:nvPr/>
        </p:nvSpPr>
        <p:spPr>
          <a:xfrm>
            <a:off x="3611880" y="2743200"/>
            <a:ext cx="2240280" cy="457200"/>
          </a:xfrm>
          <a:prstGeom prst="rect">
            <a:avLst/>
          </a:prstGeom>
          <a:noFill/>
        </p:spPr>
        <p:txBody>
          <a:bodyPr wrap="square" anchor="t" lIns="0" rIns="0" tIns="0" bIns="0">
            <a:spAutoFit/>
          </a:bodyPr>
          <a:lstStyle/>
          <a:p>
            <a:pPr algn="ctr"/>
            <a:r>
              <a:rPr sz="2000" b="1" i="0">
                <a:solidFill>
                  <a:srgbClr val="0E1B40"/>
                </a:solidFill>
                <a:latin typeface="Calibri"/>
              </a:rPr>
              <a:t>Secrétaire</a:t>
            </a:r>
          </a:p>
        </p:txBody>
      </p:sp>
      <p:sp>
        <p:nvSpPr>
          <p:cNvPr id="10" name="TextBox 9"/>
          <p:cNvSpPr txBox="1"/>
          <p:nvPr/>
        </p:nvSpPr>
        <p:spPr>
          <a:xfrm>
            <a:off x="3657600" y="3291840"/>
            <a:ext cx="2148840" cy="1463040"/>
          </a:xfrm>
          <a:prstGeom prst="rect">
            <a:avLst/>
          </a:prstGeom>
          <a:noFill/>
        </p:spPr>
        <p:txBody>
          <a:bodyPr wrap="square" anchor="t" lIns="0" rIns="0" tIns="0" bIns="0">
            <a:spAutoFit/>
          </a:bodyPr>
          <a:lstStyle/>
          <a:p>
            <a:pPr algn="ctr"/>
            <a:r>
              <a:rPr sz="1500" b="0" i="0">
                <a:solidFill>
                  <a:srgbClr val="6B7385"/>
                </a:solidFill>
                <a:latin typeface="Calibri"/>
              </a:rPr>
              <a:t>Inscrit, encaisse, fait l'appel — avec les droits que vous choisissez</a:t>
            </a:r>
          </a:p>
        </p:txBody>
      </p:sp>
      <p:sp>
        <p:nvSpPr>
          <p:cNvPr id="11" name="Rounded Rectangle 10"/>
          <p:cNvSpPr/>
          <p:nvPr/>
        </p:nvSpPr>
        <p:spPr>
          <a:xfrm>
            <a:off x="6217920" y="1645920"/>
            <a:ext cx="2606040" cy="320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242048" y="1920240"/>
            <a:ext cx="566928" cy="566928"/>
          </a:xfrm>
          <a:prstGeom prst="ellipse">
            <a:avLst/>
          </a:prstGeom>
          <a:solidFill>
            <a:srgbClr val="0E1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E8B84A"/>
                </a:solidFill>
                <a:latin typeface="Calibri"/>
              </a:rPr>
              <a:t>P</a:t>
            </a:r>
          </a:p>
        </p:txBody>
      </p:sp>
      <p:sp>
        <p:nvSpPr>
          <p:cNvPr id="13" name="TextBox 12"/>
          <p:cNvSpPr txBox="1"/>
          <p:nvPr/>
        </p:nvSpPr>
        <p:spPr>
          <a:xfrm>
            <a:off x="6400800" y="2743200"/>
            <a:ext cx="2240280" cy="457200"/>
          </a:xfrm>
          <a:prstGeom prst="rect">
            <a:avLst/>
          </a:prstGeom>
          <a:noFill/>
        </p:spPr>
        <p:txBody>
          <a:bodyPr wrap="square" anchor="t" lIns="0" rIns="0" tIns="0" bIns="0">
            <a:spAutoFit/>
          </a:bodyPr>
          <a:lstStyle/>
          <a:p>
            <a:pPr algn="ctr"/>
            <a:r>
              <a:rPr sz="2000" b="1" i="0">
                <a:solidFill>
                  <a:srgbClr val="0E1B40"/>
                </a:solidFill>
                <a:latin typeface="Calibri"/>
              </a:rPr>
              <a:t>Professeur</a:t>
            </a:r>
          </a:p>
        </p:txBody>
      </p:sp>
      <p:sp>
        <p:nvSpPr>
          <p:cNvPr id="14" name="TextBox 13"/>
          <p:cNvSpPr txBox="1"/>
          <p:nvPr/>
        </p:nvSpPr>
        <p:spPr>
          <a:xfrm>
            <a:off x="6446520" y="3291840"/>
            <a:ext cx="2148840" cy="1463040"/>
          </a:xfrm>
          <a:prstGeom prst="rect">
            <a:avLst/>
          </a:prstGeom>
          <a:noFill/>
        </p:spPr>
        <p:txBody>
          <a:bodyPr wrap="square" anchor="t" lIns="0" rIns="0" tIns="0" bIns="0">
            <a:spAutoFit/>
          </a:bodyPr>
          <a:lstStyle/>
          <a:p>
            <a:pPr algn="ctr"/>
            <a:r>
              <a:rPr sz="1500" b="0" i="0">
                <a:solidFill>
                  <a:srgbClr val="6B7385"/>
                </a:solidFill>
                <a:latin typeface="Calibri"/>
              </a:rPr>
              <a:t>Voit ses groupes, dépose ses cours, suit ses revenus</a:t>
            </a:r>
          </a:p>
        </p:txBody>
      </p:sp>
      <p:sp>
        <p:nvSpPr>
          <p:cNvPr id="15" name="Rounded Rectangle 14"/>
          <p:cNvSpPr/>
          <p:nvPr/>
        </p:nvSpPr>
        <p:spPr>
          <a:xfrm>
            <a:off x="9006839" y="1645920"/>
            <a:ext cx="2606040" cy="320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30967" y="1920240"/>
            <a:ext cx="566928" cy="566928"/>
          </a:xfrm>
          <a:prstGeom prst="ellipse">
            <a:avLst/>
          </a:prstGeom>
          <a:solidFill>
            <a:srgbClr val="0E1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E8B84A"/>
                </a:solidFill>
                <a:latin typeface="Calibri"/>
              </a:rPr>
              <a:t>F</a:t>
            </a:r>
          </a:p>
        </p:txBody>
      </p:sp>
      <p:sp>
        <p:nvSpPr>
          <p:cNvPr id="17" name="TextBox 16"/>
          <p:cNvSpPr txBox="1"/>
          <p:nvPr/>
        </p:nvSpPr>
        <p:spPr>
          <a:xfrm>
            <a:off x="9189719" y="2743200"/>
            <a:ext cx="2240280" cy="457200"/>
          </a:xfrm>
          <a:prstGeom prst="rect">
            <a:avLst/>
          </a:prstGeom>
          <a:noFill/>
        </p:spPr>
        <p:txBody>
          <a:bodyPr wrap="square" anchor="t" lIns="0" rIns="0" tIns="0" bIns="0">
            <a:spAutoFit/>
          </a:bodyPr>
          <a:lstStyle/>
          <a:p>
            <a:pPr algn="ctr"/>
            <a:r>
              <a:rPr sz="2000" b="1" i="0">
                <a:solidFill>
                  <a:srgbClr val="0E1B40"/>
                </a:solidFill>
                <a:latin typeface="Calibri"/>
              </a:rPr>
              <a:t>Parent</a:t>
            </a:r>
          </a:p>
        </p:txBody>
      </p:sp>
      <p:sp>
        <p:nvSpPr>
          <p:cNvPr id="18" name="TextBox 17"/>
          <p:cNvSpPr txBox="1"/>
          <p:nvPr/>
        </p:nvSpPr>
        <p:spPr>
          <a:xfrm>
            <a:off x="9235439" y="3291840"/>
            <a:ext cx="2148840" cy="1463040"/>
          </a:xfrm>
          <a:prstGeom prst="rect">
            <a:avLst/>
          </a:prstGeom>
          <a:noFill/>
        </p:spPr>
        <p:txBody>
          <a:bodyPr wrap="square" anchor="t" lIns="0" rIns="0" tIns="0" bIns="0">
            <a:spAutoFit/>
          </a:bodyPr>
          <a:lstStyle/>
          <a:p>
            <a:pPr algn="ctr"/>
            <a:r>
              <a:rPr sz="1500" b="0" i="0">
                <a:solidFill>
                  <a:srgbClr val="6B7385"/>
                </a:solidFill>
                <a:latin typeface="Calibri"/>
              </a:rPr>
              <a:t>Suit présences, paiements, résultats, depuis son téléphone</a:t>
            </a:r>
          </a:p>
        </p:txBody>
      </p:sp>
      <p:sp>
        <p:nvSpPr>
          <p:cNvPr id="19" name="TextBox 18"/>
          <p:cNvSpPr txBox="1"/>
          <p:nvPr/>
        </p:nvSpPr>
        <p:spPr>
          <a:xfrm>
            <a:off x="640080" y="5257800"/>
            <a:ext cx="10881360" cy="822960"/>
          </a:xfrm>
          <a:prstGeom prst="rect">
            <a:avLst/>
          </a:prstGeom>
          <a:noFill/>
        </p:spPr>
        <p:txBody>
          <a:bodyPr wrap="square" anchor="t" lIns="0" rIns="0" tIns="0" bIns="0">
            <a:spAutoFit/>
          </a:bodyPr>
          <a:lstStyle/>
          <a:p>
            <a:pPr algn="l"/>
            <a:r>
              <a:rPr sz="1700" b="0" i="0">
                <a:solidFill>
                  <a:srgbClr val="1B2233"/>
                </a:solidFill>
                <a:latin typeface="Calibri"/>
              </a:rPr>
              <a:t>Chacun se connecte avec son compte et ne voit que ce qui le concerne. Un seul calendrier partagé, des notifications automatiques, et vos données restent dans le classeur de votre école.</a:t>
            </a:r>
          </a:p>
        </p:txBody>
      </p:sp>
      <p:sp>
        <p:nvSpPr>
          <p:cNvPr id="20" name="TextBox 19"/>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21" name="TextBox 20"/>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Le directeur pilote tout depuis l'accueil</a:t>
            </a:r>
          </a:p>
        </p:txBody>
      </p:sp>
      <p:pic>
        <p:nvPicPr>
          <p:cNvPr id="3" name="Picture 2" descr="10-accueil.png"/>
          <p:cNvPicPr>
            <a:picLocks noChangeAspect="1"/>
          </p:cNvPicPr>
          <p:nvPr/>
        </p:nvPicPr>
        <p:blipFill>
          <a:blip r:embed="rId2"/>
          <a:stretch>
            <a:fillRect/>
          </a:stretch>
        </p:blipFill>
        <p:spPr>
          <a:xfrm>
            <a:off x="640080" y="1554480"/>
            <a:ext cx="6949440" cy="4343400"/>
          </a:xfrm>
          <a:prstGeom prst="rect">
            <a:avLst/>
          </a:prstGeom>
          <a:ln w="9525">
            <a:solidFill>
              <a:srgbClr val="D9D3C0"/>
            </a:solidFill>
          </a:ln>
        </p:spPr>
      </p:pic>
      <p:sp>
        <p:nvSpPr>
          <p:cNvPr id="4" name="Oval 3"/>
          <p:cNvSpPr/>
          <p:nvPr/>
        </p:nvSpPr>
        <p:spPr>
          <a:xfrm>
            <a:off x="7955279" y="169164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5" name="TextBox 4"/>
          <p:cNvSpPr txBox="1"/>
          <p:nvPr/>
        </p:nvSpPr>
        <p:spPr>
          <a:xfrm>
            <a:off x="8522207" y="1673352"/>
            <a:ext cx="3273552" cy="548640"/>
          </a:xfrm>
          <a:prstGeom prst="rect">
            <a:avLst/>
          </a:prstGeom>
          <a:noFill/>
        </p:spPr>
        <p:txBody>
          <a:bodyPr wrap="square" anchor="t" lIns="0" rIns="0" tIns="0" bIns="0">
            <a:spAutoFit/>
          </a:bodyPr>
          <a:lstStyle/>
          <a:p>
            <a:pPr algn="l"/>
            <a:r>
              <a:rPr sz="1700" b="1" i="0">
                <a:solidFill>
                  <a:srgbClr val="0E1B40"/>
                </a:solidFill>
                <a:latin typeface="Calibri"/>
              </a:rPr>
              <a:t>Chiffres clés en un coup d'œil</a:t>
            </a:r>
          </a:p>
        </p:txBody>
      </p:sp>
      <p:sp>
        <p:nvSpPr>
          <p:cNvPr id="6" name="TextBox 5"/>
          <p:cNvSpPr txBox="1"/>
          <p:nvPr/>
        </p:nvSpPr>
        <p:spPr>
          <a:xfrm>
            <a:off x="8522207" y="1965960"/>
            <a:ext cx="3273552" cy="457200"/>
          </a:xfrm>
          <a:prstGeom prst="rect">
            <a:avLst/>
          </a:prstGeom>
          <a:noFill/>
        </p:spPr>
        <p:txBody>
          <a:bodyPr wrap="square" anchor="t" lIns="0" rIns="0" tIns="0" bIns="0">
            <a:spAutoFit/>
          </a:bodyPr>
          <a:lstStyle/>
          <a:p>
            <a:pPr algn="l"/>
            <a:r>
              <a:rPr sz="1400" b="0" i="0">
                <a:solidFill>
                  <a:srgbClr val="6B7385"/>
                </a:solidFill>
                <a:latin typeface="Calibri"/>
              </a:rPr>
              <a:t>élèves, groupes, encaissé, retards</a:t>
            </a:r>
          </a:p>
        </p:txBody>
      </p:sp>
      <p:sp>
        <p:nvSpPr>
          <p:cNvPr id="7" name="Oval 6"/>
          <p:cNvSpPr/>
          <p:nvPr/>
        </p:nvSpPr>
        <p:spPr>
          <a:xfrm>
            <a:off x="7955279" y="269748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8" name="TextBox 7"/>
          <p:cNvSpPr txBox="1"/>
          <p:nvPr/>
        </p:nvSpPr>
        <p:spPr>
          <a:xfrm>
            <a:off x="8522207" y="2679192"/>
            <a:ext cx="3273552" cy="548640"/>
          </a:xfrm>
          <a:prstGeom prst="rect">
            <a:avLst/>
          </a:prstGeom>
          <a:noFill/>
        </p:spPr>
        <p:txBody>
          <a:bodyPr wrap="square" anchor="t" lIns="0" rIns="0" tIns="0" bIns="0">
            <a:spAutoFit/>
          </a:bodyPr>
          <a:lstStyle/>
          <a:p>
            <a:pPr algn="l"/>
            <a:r>
              <a:rPr sz="1700" b="1" i="0">
                <a:solidFill>
                  <a:srgbClr val="0E1B40"/>
                </a:solidFill>
                <a:latin typeface="Calibri"/>
              </a:rPr>
              <a:t>Alertes utiles</a:t>
            </a:r>
          </a:p>
        </p:txBody>
      </p:sp>
      <p:sp>
        <p:nvSpPr>
          <p:cNvPr id="9" name="TextBox 8"/>
          <p:cNvSpPr txBox="1"/>
          <p:nvPr/>
        </p:nvSpPr>
        <p:spPr>
          <a:xfrm>
            <a:off x="8522207" y="2971800"/>
            <a:ext cx="3273552" cy="457200"/>
          </a:xfrm>
          <a:prstGeom prst="rect">
            <a:avLst/>
          </a:prstGeom>
          <a:noFill/>
        </p:spPr>
        <p:txBody>
          <a:bodyPr wrap="square" anchor="t" lIns="0" rIns="0" tIns="0" bIns="0">
            <a:spAutoFit/>
          </a:bodyPr>
          <a:lstStyle/>
          <a:p>
            <a:pPr algn="l"/>
            <a:r>
              <a:rPr sz="1400" b="0" i="0">
                <a:solidFill>
                  <a:srgbClr val="6B7385"/>
                </a:solidFill>
                <a:latin typeface="Calibri"/>
              </a:rPr>
              <a:t>séances sans appel, impayés, comptes à activer</a:t>
            </a:r>
          </a:p>
        </p:txBody>
      </p:sp>
      <p:sp>
        <p:nvSpPr>
          <p:cNvPr id="10" name="Oval 9"/>
          <p:cNvSpPr/>
          <p:nvPr/>
        </p:nvSpPr>
        <p:spPr>
          <a:xfrm>
            <a:off x="7955279" y="370332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1" name="TextBox 10"/>
          <p:cNvSpPr txBox="1"/>
          <p:nvPr/>
        </p:nvSpPr>
        <p:spPr>
          <a:xfrm>
            <a:off x="8522207" y="3685032"/>
            <a:ext cx="3273552" cy="548640"/>
          </a:xfrm>
          <a:prstGeom prst="rect">
            <a:avLst/>
          </a:prstGeom>
          <a:noFill/>
        </p:spPr>
        <p:txBody>
          <a:bodyPr wrap="square" anchor="t" lIns="0" rIns="0" tIns="0" bIns="0">
            <a:spAutoFit/>
          </a:bodyPr>
          <a:lstStyle/>
          <a:p>
            <a:pPr algn="l"/>
            <a:r>
              <a:rPr sz="1700" b="1" i="0">
                <a:solidFill>
                  <a:srgbClr val="0E1B40"/>
                </a:solidFill>
                <a:latin typeface="Calibri"/>
              </a:rPr>
              <a:t>Relance en un clic</a:t>
            </a:r>
          </a:p>
        </p:txBody>
      </p:sp>
      <p:sp>
        <p:nvSpPr>
          <p:cNvPr id="12" name="TextBox 11"/>
          <p:cNvSpPr txBox="1"/>
          <p:nvPr/>
        </p:nvSpPr>
        <p:spPr>
          <a:xfrm>
            <a:off x="8522207" y="3977640"/>
            <a:ext cx="3273552" cy="457200"/>
          </a:xfrm>
          <a:prstGeom prst="rect">
            <a:avLst/>
          </a:prstGeom>
          <a:noFill/>
        </p:spPr>
        <p:txBody>
          <a:bodyPr wrap="square" anchor="t" lIns="0" rIns="0" tIns="0" bIns="0">
            <a:spAutoFit/>
          </a:bodyPr>
          <a:lstStyle/>
          <a:p>
            <a:pPr algn="l"/>
            <a:r>
              <a:rPr sz="1400" b="0" i="0">
                <a:solidFill>
                  <a:srgbClr val="6B7385"/>
                </a:solidFill>
                <a:latin typeface="Calibri"/>
              </a:rPr>
              <a:t>rappel aux parents en retard</a:t>
            </a:r>
          </a:p>
        </p:txBody>
      </p:sp>
      <p:sp>
        <p:nvSpPr>
          <p:cNvPr id="13" name="TextBox 12"/>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14" name="TextBox 13"/>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Calendrier partagé et appel express</a:t>
            </a:r>
          </a:p>
        </p:txBody>
      </p:sp>
      <p:pic>
        <p:nvPicPr>
          <p:cNvPr id="3" name="Picture 2" descr="11-calendrier-semaine.png"/>
          <p:cNvPicPr>
            <a:picLocks noChangeAspect="1"/>
          </p:cNvPicPr>
          <p:nvPr/>
        </p:nvPicPr>
        <p:blipFill>
          <a:blip r:embed="rId2"/>
          <a:stretch>
            <a:fillRect/>
          </a:stretch>
        </p:blipFill>
        <p:spPr>
          <a:xfrm>
            <a:off x="640080" y="1463040"/>
            <a:ext cx="5029200" cy="3143250"/>
          </a:xfrm>
          <a:prstGeom prst="rect">
            <a:avLst/>
          </a:prstGeom>
          <a:ln w="9525">
            <a:solidFill>
              <a:srgbClr val="D9D3C0"/>
            </a:solidFill>
          </a:ln>
        </p:spPr>
      </p:pic>
      <p:pic>
        <p:nvPicPr>
          <p:cNvPr id="4" name="Picture 3" descr="13-appel.png"/>
          <p:cNvPicPr>
            <a:picLocks noChangeAspect="1"/>
          </p:cNvPicPr>
          <p:nvPr/>
        </p:nvPicPr>
        <p:blipFill>
          <a:blip r:embed="rId3"/>
          <a:stretch>
            <a:fillRect/>
          </a:stretch>
        </p:blipFill>
        <p:spPr>
          <a:xfrm>
            <a:off x="6309360" y="1463040"/>
            <a:ext cx="5029200" cy="3143250"/>
          </a:xfrm>
          <a:prstGeom prst="rect">
            <a:avLst/>
          </a:prstGeom>
          <a:ln w="9525">
            <a:solidFill>
              <a:srgbClr val="D9D3C0"/>
            </a:solidFill>
          </a:ln>
        </p:spPr>
      </p:pic>
      <p:sp>
        <p:nvSpPr>
          <p:cNvPr id="5" name="TextBox 4"/>
          <p:cNvSpPr txBox="1"/>
          <p:nvPr/>
        </p:nvSpPr>
        <p:spPr>
          <a:xfrm>
            <a:off x="640080" y="4846320"/>
            <a:ext cx="5394960" cy="1463040"/>
          </a:xfrm>
          <a:prstGeom prst="rect">
            <a:avLst/>
          </a:prstGeom>
          <a:noFill/>
        </p:spPr>
        <p:txBody>
          <a:bodyPr wrap="square" anchor="t" lIns="0" rIns="0" tIns="0" bIns="0">
            <a:spAutoFit/>
          </a:bodyPr>
          <a:lstStyle/>
          <a:p>
            <a:pPr algn="l"/>
            <a:r>
              <a:rPr sz="1500" b="0" i="0">
                <a:solidFill>
                  <a:srgbClr val="1B2233"/>
                </a:solidFill>
                <a:latin typeface="Calibri"/>
              </a:rPr>
              <a:t>Une semaine qui commence le dimanche</a:t>
            </a:r>
          </a:p>
          <a:p>
            <a:pPr algn="l">
              <a:spcBef>
                <a:spcPts val="675"/>
              </a:spcBef>
            </a:pPr>
            <a:r>
              <a:rPr sz="1500" b="0" i="0">
                <a:solidFill>
                  <a:srgbClr val="1B2233"/>
                </a:solidFill>
                <a:latin typeface="Calibri"/>
              </a:rPr>
              <a:t>Déplacement ou annulation : parents et professeurs prévenus aussitôt</a:t>
            </a:r>
          </a:p>
          <a:p>
            <a:pPr algn="l">
              <a:spcBef>
                <a:spcPts val="675"/>
              </a:spcBef>
            </a:pPr>
            <a:r>
              <a:rPr sz="1500" b="0" i="0">
                <a:solidFill>
                  <a:srgbClr val="1B2233"/>
                </a:solidFill>
                <a:latin typeface="Calibri"/>
              </a:rPr>
              <a:t>Agenda exportable vers le téléphone, avec rappel 1 h avant</a:t>
            </a:r>
          </a:p>
        </p:txBody>
      </p:sp>
      <p:sp>
        <p:nvSpPr>
          <p:cNvPr id="6" name="TextBox 5"/>
          <p:cNvSpPr txBox="1"/>
          <p:nvPr/>
        </p:nvSpPr>
        <p:spPr>
          <a:xfrm>
            <a:off x="6309360" y="4846320"/>
            <a:ext cx="5394960" cy="1463040"/>
          </a:xfrm>
          <a:prstGeom prst="rect">
            <a:avLst/>
          </a:prstGeom>
          <a:noFill/>
        </p:spPr>
        <p:txBody>
          <a:bodyPr wrap="square" anchor="t" lIns="0" rIns="0" tIns="0" bIns="0">
            <a:spAutoFit/>
          </a:bodyPr>
          <a:lstStyle/>
          <a:p>
            <a:pPr algn="l"/>
            <a:r>
              <a:rPr sz="1500" b="0" i="0">
                <a:solidFill>
                  <a:srgbClr val="1B2233"/>
                </a:solidFill>
                <a:latin typeface="Calibri"/>
              </a:rPr>
              <a:t>Présent, absent, retard, justifié : « Tous présents » en un geste</a:t>
            </a:r>
          </a:p>
          <a:p>
            <a:pPr algn="l">
              <a:spcBef>
                <a:spcPts val="675"/>
              </a:spcBef>
            </a:pPr>
            <a:r>
              <a:rPr sz="1500" b="0" i="0">
                <a:solidFill>
                  <a:srgbClr val="1B2233"/>
                </a:solidFill>
                <a:latin typeface="Calibri"/>
              </a:rPr>
              <a:t>Absence justifiée : crédit possible sur la session suivante</a:t>
            </a:r>
          </a:p>
          <a:p>
            <a:pPr algn="l">
              <a:spcBef>
                <a:spcPts val="675"/>
              </a:spcBef>
            </a:pPr>
            <a:r>
              <a:rPr sz="1500" b="0" i="0">
                <a:solidFill>
                  <a:srgbClr val="1B2233"/>
                </a:solidFill>
                <a:latin typeface="Calibri"/>
              </a:rPr>
              <a:t>Rappels la veille et 1 heure avant chaque séance</a:t>
            </a:r>
          </a:p>
        </p:txBody>
      </p:sp>
      <p:sp>
        <p:nvSpPr>
          <p:cNvPr id="7" name="TextBox 6"/>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8" name="TextBox 7"/>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Des paiements maîtrisés, des reçus automatiques</a:t>
            </a:r>
          </a:p>
        </p:txBody>
      </p:sp>
      <p:pic>
        <p:nvPicPr>
          <p:cNvPr id="3" name="Picture 2" descr="40-paiements.png"/>
          <p:cNvPicPr>
            <a:picLocks noChangeAspect="1"/>
          </p:cNvPicPr>
          <p:nvPr/>
        </p:nvPicPr>
        <p:blipFill>
          <a:blip r:embed="rId2"/>
          <a:stretch>
            <a:fillRect/>
          </a:stretch>
        </p:blipFill>
        <p:spPr>
          <a:xfrm>
            <a:off x="640080" y="1463040"/>
            <a:ext cx="4754880" cy="2971800"/>
          </a:xfrm>
          <a:prstGeom prst="rect">
            <a:avLst/>
          </a:prstGeom>
          <a:ln w="9525">
            <a:solidFill>
              <a:srgbClr val="D9D3C0"/>
            </a:solidFill>
          </a:ln>
        </p:spPr>
      </p:pic>
      <p:pic>
        <p:nvPicPr>
          <p:cNvPr id="4" name="Picture 3" descr="27-recu.png"/>
          <p:cNvPicPr>
            <a:picLocks noChangeAspect="1"/>
          </p:cNvPicPr>
          <p:nvPr/>
        </p:nvPicPr>
        <p:blipFill>
          <a:blip r:embed="rId3"/>
          <a:stretch>
            <a:fillRect/>
          </a:stretch>
        </p:blipFill>
        <p:spPr>
          <a:xfrm>
            <a:off x="6583680" y="1463040"/>
            <a:ext cx="4754880" cy="2971800"/>
          </a:xfrm>
          <a:prstGeom prst="rect">
            <a:avLst/>
          </a:prstGeom>
          <a:ln w="9525">
            <a:solidFill>
              <a:srgbClr val="D9D3C0"/>
            </a:solidFill>
          </a:ln>
        </p:spPr>
      </p:pic>
      <p:sp>
        <p:nvSpPr>
          <p:cNvPr id="5" name="Oval 4"/>
          <p:cNvSpPr/>
          <p:nvPr/>
        </p:nvSpPr>
        <p:spPr>
          <a:xfrm>
            <a:off x="640080" y="489204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6" name="TextBox 5"/>
          <p:cNvSpPr txBox="1"/>
          <p:nvPr/>
        </p:nvSpPr>
        <p:spPr>
          <a:xfrm>
            <a:off x="1207007" y="4873752"/>
            <a:ext cx="5193792" cy="548640"/>
          </a:xfrm>
          <a:prstGeom prst="rect">
            <a:avLst/>
          </a:prstGeom>
          <a:noFill/>
        </p:spPr>
        <p:txBody>
          <a:bodyPr wrap="square" anchor="t" lIns="0" rIns="0" tIns="0" bIns="0">
            <a:spAutoFit/>
          </a:bodyPr>
          <a:lstStyle/>
          <a:p>
            <a:pPr algn="l"/>
            <a:r>
              <a:rPr sz="1600" b="1" i="0">
                <a:solidFill>
                  <a:srgbClr val="0E1B40"/>
                </a:solidFill>
                <a:latin typeface="Calibri"/>
              </a:rPr>
              <a:t>Sessions de N séances, au prorata si l'élève arrive en cours</a:t>
            </a:r>
          </a:p>
        </p:txBody>
      </p:sp>
      <p:sp>
        <p:nvSpPr>
          <p:cNvPr id="7" name="Oval 6"/>
          <p:cNvSpPr/>
          <p:nvPr/>
        </p:nvSpPr>
        <p:spPr>
          <a:xfrm>
            <a:off x="640080" y="5327294"/>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8" name="TextBox 7"/>
          <p:cNvSpPr txBox="1"/>
          <p:nvPr/>
        </p:nvSpPr>
        <p:spPr>
          <a:xfrm>
            <a:off x="1207007" y="5309006"/>
            <a:ext cx="5193792" cy="548640"/>
          </a:xfrm>
          <a:prstGeom prst="rect">
            <a:avLst/>
          </a:prstGeom>
          <a:noFill/>
        </p:spPr>
        <p:txBody>
          <a:bodyPr wrap="square" anchor="t" lIns="0" rIns="0" tIns="0" bIns="0">
            <a:spAutoFit/>
          </a:bodyPr>
          <a:lstStyle/>
          <a:p>
            <a:pPr algn="l"/>
            <a:r>
              <a:rPr sz="1600" b="1" i="0">
                <a:solidFill>
                  <a:srgbClr val="0E1B40"/>
                </a:solidFill>
                <a:latin typeface="Calibri"/>
              </a:rPr>
              <a:t>Paiements partiels acceptés, crédits d'absence</a:t>
            </a:r>
          </a:p>
        </p:txBody>
      </p:sp>
      <p:sp>
        <p:nvSpPr>
          <p:cNvPr id="9" name="Oval 8"/>
          <p:cNvSpPr/>
          <p:nvPr/>
        </p:nvSpPr>
        <p:spPr>
          <a:xfrm>
            <a:off x="640080" y="5762548"/>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0" name="TextBox 9"/>
          <p:cNvSpPr txBox="1"/>
          <p:nvPr/>
        </p:nvSpPr>
        <p:spPr>
          <a:xfrm>
            <a:off x="1207007" y="5744260"/>
            <a:ext cx="5193792" cy="548640"/>
          </a:xfrm>
          <a:prstGeom prst="rect">
            <a:avLst/>
          </a:prstGeom>
          <a:noFill/>
        </p:spPr>
        <p:txBody>
          <a:bodyPr wrap="square" anchor="t" lIns="0" rIns="0" tIns="0" bIns="0">
            <a:spAutoFit/>
          </a:bodyPr>
          <a:lstStyle/>
          <a:p>
            <a:pPr algn="l"/>
            <a:r>
              <a:rPr sz="1600" b="1" i="0">
                <a:solidFill>
                  <a:srgbClr val="0E1B40"/>
                </a:solidFill>
                <a:latin typeface="Calibri"/>
              </a:rPr>
              <a:t>Relances automatiques avant et après l'échéance</a:t>
            </a:r>
          </a:p>
        </p:txBody>
      </p:sp>
      <p:sp>
        <p:nvSpPr>
          <p:cNvPr id="11" name="TextBox 10"/>
          <p:cNvSpPr txBox="1"/>
          <p:nvPr/>
        </p:nvSpPr>
        <p:spPr>
          <a:xfrm>
            <a:off x="6583680" y="4892040"/>
            <a:ext cx="4937760" cy="1371600"/>
          </a:xfrm>
          <a:prstGeom prst="rect">
            <a:avLst/>
          </a:prstGeom>
          <a:noFill/>
        </p:spPr>
        <p:txBody>
          <a:bodyPr wrap="square" anchor="t" lIns="0" rIns="0" tIns="0" bIns="0">
            <a:spAutoFit/>
          </a:bodyPr>
          <a:lstStyle/>
          <a:p>
            <a:pPr algn="l"/>
            <a:r>
              <a:rPr sz="1600" b="0" i="0">
                <a:solidFill>
                  <a:srgbClr val="1B2233"/>
                </a:solidFill>
                <a:latin typeface="Calibri"/>
              </a:rPr>
              <a:t>Reçus numérotés R-AAAA-NNNN, imprimables ou en PDF, visibles aussi par le parent.</a:t>
            </a:r>
          </a:p>
        </p:txBody>
      </p:sp>
      <p:sp>
        <p:nvSpPr>
          <p:cNvPr id="12" name="TextBox 11"/>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13" name="TextBox 12"/>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Une comptabilité claire, mois par mois</a:t>
            </a:r>
          </a:p>
        </p:txBody>
      </p:sp>
      <p:pic>
        <p:nvPicPr>
          <p:cNvPr id="3" name="Picture 2" descr="41-comptabilite.png"/>
          <p:cNvPicPr>
            <a:picLocks noChangeAspect="1"/>
          </p:cNvPicPr>
          <p:nvPr/>
        </p:nvPicPr>
        <p:blipFill>
          <a:blip r:embed="rId2"/>
          <a:stretch>
            <a:fillRect/>
          </a:stretch>
        </p:blipFill>
        <p:spPr>
          <a:xfrm>
            <a:off x="640080" y="1554480"/>
            <a:ext cx="6949440" cy="4343400"/>
          </a:xfrm>
          <a:prstGeom prst="rect">
            <a:avLst/>
          </a:prstGeom>
          <a:ln w="9525">
            <a:solidFill>
              <a:srgbClr val="D9D3C0"/>
            </a:solidFill>
          </a:ln>
        </p:spPr>
      </p:pic>
      <p:sp>
        <p:nvSpPr>
          <p:cNvPr id="4" name="Oval 3"/>
          <p:cNvSpPr/>
          <p:nvPr/>
        </p:nvSpPr>
        <p:spPr>
          <a:xfrm>
            <a:off x="7955279" y="169164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5" name="TextBox 4"/>
          <p:cNvSpPr txBox="1"/>
          <p:nvPr/>
        </p:nvSpPr>
        <p:spPr>
          <a:xfrm>
            <a:off x="8522207" y="1673352"/>
            <a:ext cx="3273552" cy="548640"/>
          </a:xfrm>
          <a:prstGeom prst="rect">
            <a:avLst/>
          </a:prstGeom>
          <a:noFill/>
        </p:spPr>
        <p:txBody>
          <a:bodyPr wrap="square" anchor="t" lIns="0" rIns="0" tIns="0" bIns="0">
            <a:spAutoFit/>
          </a:bodyPr>
          <a:lstStyle/>
          <a:p>
            <a:pPr algn="l"/>
            <a:r>
              <a:rPr sz="1700" b="1" i="0">
                <a:solidFill>
                  <a:srgbClr val="0E1B40"/>
                </a:solidFill>
                <a:latin typeface="Calibri"/>
              </a:rPr>
              <a:t>Encaissé, dépenses, résultat</a:t>
            </a:r>
          </a:p>
        </p:txBody>
      </p:sp>
      <p:sp>
        <p:nvSpPr>
          <p:cNvPr id="6" name="Oval 5"/>
          <p:cNvSpPr/>
          <p:nvPr/>
        </p:nvSpPr>
        <p:spPr>
          <a:xfrm>
            <a:off x="7955279" y="256032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7" name="TextBox 6"/>
          <p:cNvSpPr txBox="1"/>
          <p:nvPr/>
        </p:nvSpPr>
        <p:spPr>
          <a:xfrm>
            <a:off x="8522207" y="2542032"/>
            <a:ext cx="3273552" cy="548640"/>
          </a:xfrm>
          <a:prstGeom prst="rect">
            <a:avLst/>
          </a:prstGeom>
          <a:noFill/>
        </p:spPr>
        <p:txBody>
          <a:bodyPr wrap="square" anchor="t" lIns="0" rIns="0" tIns="0" bIns="0">
            <a:spAutoFit/>
          </a:bodyPr>
          <a:lstStyle/>
          <a:p>
            <a:pPr algn="l"/>
            <a:r>
              <a:rPr sz="1700" b="1" i="0">
                <a:solidFill>
                  <a:srgbClr val="0E1B40"/>
                </a:solidFill>
                <a:latin typeface="Calibri"/>
              </a:rPr>
              <a:t>Paie des professeurs calculée</a:t>
            </a:r>
          </a:p>
        </p:txBody>
      </p:sp>
      <p:sp>
        <p:nvSpPr>
          <p:cNvPr id="8" name="TextBox 7"/>
          <p:cNvSpPr txBox="1"/>
          <p:nvPr/>
        </p:nvSpPr>
        <p:spPr>
          <a:xfrm>
            <a:off x="8522207" y="2834639"/>
            <a:ext cx="3273552" cy="457200"/>
          </a:xfrm>
          <a:prstGeom prst="rect">
            <a:avLst/>
          </a:prstGeom>
          <a:noFill/>
        </p:spPr>
        <p:txBody>
          <a:bodyPr wrap="square" anchor="t" lIns="0" rIns="0" tIns="0" bIns="0">
            <a:spAutoFit/>
          </a:bodyPr>
          <a:lstStyle/>
          <a:p>
            <a:pPr algn="l"/>
            <a:r>
              <a:rPr sz="1400" b="0" i="0">
                <a:solidFill>
                  <a:srgbClr val="6B7385"/>
                </a:solidFill>
                <a:latin typeface="Calibri"/>
              </a:rPr>
              <a:t>heure, forfait, fixe ou %</a:t>
            </a:r>
          </a:p>
        </p:txBody>
      </p:sp>
      <p:sp>
        <p:nvSpPr>
          <p:cNvPr id="9" name="Oval 8"/>
          <p:cNvSpPr/>
          <p:nvPr/>
        </p:nvSpPr>
        <p:spPr>
          <a:xfrm>
            <a:off x="7955279" y="3168396"/>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0" name="TextBox 9"/>
          <p:cNvSpPr txBox="1"/>
          <p:nvPr/>
        </p:nvSpPr>
        <p:spPr>
          <a:xfrm>
            <a:off x="8522207" y="3150108"/>
            <a:ext cx="3273552" cy="548640"/>
          </a:xfrm>
          <a:prstGeom prst="rect">
            <a:avLst/>
          </a:prstGeom>
          <a:noFill/>
        </p:spPr>
        <p:txBody>
          <a:bodyPr wrap="square" anchor="t" lIns="0" rIns="0" tIns="0" bIns="0">
            <a:spAutoFit/>
          </a:bodyPr>
          <a:lstStyle/>
          <a:p>
            <a:pPr algn="l"/>
            <a:r>
              <a:rPr sz="1700" b="1" i="0">
                <a:solidFill>
                  <a:srgbClr val="0E1B40"/>
                </a:solidFill>
                <a:latin typeface="Calibri"/>
              </a:rPr>
              <a:t>Répartition par mode et par groupe</a:t>
            </a:r>
          </a:p>
        </p:txBody>
      </p:sp>
      <p:sp>
        <p:nvSpPr>
          <p:cNvPr id="11" name="Oval 10"/>
          <p:cNvSpPr/>
          <p:nvPr/>
        </p:nvSpPr>
        <p:spPr>
          <a:xfrm>
            <a:off x="7955279" y="3776472"/>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2" name="TextBox 11"/>
          <p:cNvSpPr txBox="1"/>
          <p:nvPr/>
        </p:nvSpPr>
        <p:spPr>
          <a:xfrm>
            <a:off x="8522207" y="3758184"/>
            <a:ext cx="3273552" cy="548640"/>
          </a:xfrm>
          <a:prstGeom prst="rect">
            <a:avLst/>
          </a:prstGeom>
          <a:noFill/>
        </p:spPr>
        <p:txBody>
          <a:bodyPr wrap="square" anchor="t" lIns="0" rIns="0" tIns="0" bIns="0">
            <a:spAutoFit/>
          </a:bodyPr>
          <a:lstStyle/>
          <a:p>
            <a:pPr algn="l"/>
            <a:r>
              <a:rPr sz="1700" b="1" i="0">
                <a:solidFill>
                  <a:srgbClr val="0E1B40"/>
                </a:solidFill>
                <a:latin typeface="Calibri"/>
              </a:rPr>
              <a:t>Export CSV de vos données</a:t>
            </a:r>
          </a:p>
        </p:txBody>
      </p:sp>
      <p:sp>
        <p:nvSpPr>
          <p:cNvPr id="13" name="TextBox 12"/>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14" name="TextBox 13"/>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Les professeurs : groupes, cours et revenus</a:t>
            </a:r>
          </a:p>
        </p:txBody>
      </p:sp>
      <p:pic>
        <p:nvPicPr>
          <p:cNvPr id="3" name="Picture 2" descr="84-prof-groupe.png"/>
          <p:cNvPicPr>
            <a:picLocks noChangeAspect="1"/>
          </p:cNvPicPr>
          <p:nvPr/>
        </p:nvPicPr>
        <p:blipFill>
          <a:blip r:embed="rId2"/>
          <a:stretch>
            <a:fillRect/>
          </a:stretch>
        </p:blipFill>
        <p:spPr>
          <a:xfrm>
            <a:off x="822960" y="1463040"/>
            <a:ext cx="2197160" cy="4754880"/>
          </a:xfrm>
          <a:prstGeom prst="rect">
            <a:avLst/>
          </a:prstGeom>
          <a:ln w="9525">
            <a:solidFill>
              <a:srgbClr val="D9D3C0"/>
            </a:solidFill>
          </a:ln>
        </p:spPr>
      </p:pic>
      <p:pic>
        <p:nvPicPr>
          <p:cNvPr id="4" name="Picture 3" descr="82-prof-revenus.png"/>
          <p:cNvPicPr>
            <a:picLocks noChangeAspect="1"/>
          </p:cNvPicPr>
          <p:nvPr/>
        </p:nvPicPr>
        <p:blipFill>
          <a:blip r:embed="rId3"/>
          <a:stretch>
            <a:fillRect/>
          </a:stretch>
        </p:blipFill>
        <p:spPr>
          <a:xfrm>
            <a:off x="3931920" y="1463040"/>
            <a:ext cx="2197160" cy="4754880"/>
          </a:xfrm>
          <a:prstGeom prst="rect">
            <a:avLst/>
          </a:prstGeom>
          <a:ln w="9525">
            <a:solidFill>
              <a:srgbClr val="D9D3C0"/>
            </a:solidFill>
          </a:ln>
        </p:spPr>
      </p:pic>
      <p:sp>
        <p:nvSpPr>
          <p:cNvPr id="5" name="Oval 4"/>
          <p:cNvSpPr/>
          <p:nvPr/>
        </p:nvSpPr>
        <p:spPr>
          <a:xfrm>
            <a:off x="7223760" y="173736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6" name="TextBox 5"/>
          <p:cNvSpPr txBox="1"/>
          <p:nvPr/>
        </p:nvSpPr>
        <p:spPr>
          <a:xfrm>
            <a:off x="7790688" y="1719072"/>
            <a:ext cx="4005072" cy="548640"/>
          </a:xfrm>
          <a:prstGeom prst="rect">
            <a:avLst/>
          </a:prstGeom>
          <a:noFill/>
        </p:spPr>
        <p:txBody>
          <a:bodyPr wrap="square" anchor="t" lIns="0" rIns="0" tIns="0" bIns="0">
            <a:spAutoFit/>
          </a:bodyPr>
          <a:lstStyle/>
          <a:p>
            <a:pPr algn="l"/>
            <a:r>
              <a:rPr sz="1600" b="1" i="0">
                <a:solidFill>
                  <a:srgbClr val="0E1B40"/>
                </a:solidFill>
                <a:latin typeface="Calibri"/>
              </a:rPr>
              <a:t>Appel et calendrier sur téléphone</a:t>
            </a:r>
          </a:p>
        </p:txBody>
      </p:sp>
      <p:sp>
        <p:nvSpPr>
          <p:cNvPr id="7" name="Oval 6"/>
          <p:cNvSpPr/>
          <p:nvPr/>
        </p:nvSpPr>
        <p:spPr>
          <a:xfrm>
            <a:off x="7223760" y="2377439"/>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8" name="TextBox 7"/>
          <p:cNvSpPr txBox="1"/>
          <p:nvPr/>
        </p:nvSpPr>
        <p:spPr>
          <a:xfrm>
            <a:off x="7790688" y="2359151"/>
            <a:ext cx="4005072" cy="548640"/>
          </a:xfrm>
          <a:prstGeom prst="rect">
            <a:avLst/>
          </a:prstGeom>
          <a:noFill/>
        </p:spPr>
        <p:txBody>
          <a:bodyPr wrap="square" anchor="t" lIns="0" rIns="0" tIns="0" bIns="0">
            <a:spAutoFit/>
          </a:bodyPr>
          <a:lstStyle/>
          <a:p>
            <a:pPr algn="l"/>
            <a:r>
              <a:rPr sz="1600" b="1" i="0">
                <a:solidFill>
                  <a:srgbClr val="0E1B40"/>
                </a:solidFill>
                <a:latin typeface="Calibri"/>
              </a:rPr>
              <a:t>Dépôt de cours et séries pour les élèves</a:t>
            </a:r>
          </a:p>
        </p:txBody>
      </p:sp>
      <p:sp>
        <p:nvSpPr>
          <p:cNvPr id="9" name="Oval 8"/>
          <p:cNvSpPr/>
          <p:nvPr/>
        </p:nvSpPr>
        <p:spPr>
          <a:xfrm>
            <a:off x="7223760" y="301752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0" name="TextBox 9"/>
          <p:cNvSpPr txBox="1"/>
          <p:nvPr/>
        </p:nvSpPr>
        <p:spPr>
          <a:xfrm>
            <a:off x="7790688" y="2999232"/>
            <a:ext cx="4005072" cy="548640"/>
          </a:xfrm>
          <a:prstGeom prst="rect">
            <a:avLst/>
          </a:prstGeom>
          <a:noFill/>
        </p:spPr>
        <p:txBody>
          <a:bodyPr wrap="square" anchor="t" lIns="0" rIns="0" tIns="0" bIns="0">
            <a:spAutoFit/>
          </a:bodyPr>
          <a:lstStyle/>
          <a:p>
            <a:pPr algn="l"/>
            <a:r>
              <a:rPr sz="1600" b="1" i="0">
                <a:solidFill>
                  <a:srgbClr val="0E1B40"/>
                </a:solidFill>
                <a:latin typeface="Calibri"/>
              </a:rPr>
              <a:t>Notes de contrôles et suivi mensuel publié aux parents</a:t>
            </a:r>
          </a:p>
        </p:txBody>
      </p:sp>
      <p:sp>
        <p:nvSpPr>
          <p:cNvPr id="11" name="Oval 10"/>
          <p:cNvSpPr/>
          <p:nvPr/>
        </p:nvSpPr>
        <p:spPr>
          <a:xfrm>
            <a:off x="7223760" y="365760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2" name="TextBox 11"/>
          <p:cNvSpPr txBox="1"/>
          <p:nvPr/>
        </p:nvSpPr>
        <p:spPr>
          <a:xfrm>
            <a:off x="7790688" y="3639312"/>
            <a:ext cx="4005072" cy="548640"/>
          </a:xfrm>
          <a:prstGeom prst="rect">
            <a:avLst/>
          </a:prstGeom>
          <a:noFill/>
        </p:spPr>
        <p:txBody>
          <a:bodyPr wrap="square" anchor="t" lIns="0" rIns="0" tIns="0" bIns="0">
            <a:spAutoFit/>
          </a:bodyPr>
          <a:lstStyle/>
          <a:p>
            <a:pPr algn="l"/>
            <a:r>
              <a:rPr sz="1600" b="1" i="0">
                <a:solidFill>
                  <a:srgbClr val="0E1B40"/>
                </a:solidFill>
                <a:latin typeface="Calibri"/>
              </a:rPr>
              <a:t>Revenus cumulés si le professeur enseigne dans plusieurs écoles Siraj</a:t>
            </a:r>
          </a:p>
        </p:txBody>
      </p:sp>
      <p:sp>
        <p:nvSpPr>
          <p:cNvPr id="13" name="TextBox 12"/>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14" name="TextBox 13"/>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Les parents sont informés, sans courir après l'école</a:t>
            </a:r>
          </a:p>
        </p:txBody>
      </p:sp>
      <p:pic>
        <p:nvPicPr>
          <p:cNvPr id="3" name="Picture 2" descr="90-parent-accueil.png"/>
          <p:cNvPicPr>
            <a:picLocks noChangeAspect="1"/>
          </p:cNvPicPr>
          <p:nvPr/>
        </p:nvPicPr>
        <p:blipFill>
          <a:blip r:embed="rId2"/>
          <a:stretch>
            <a:fillRect/>
          </a:stretch>
        </p:blipFill>
        <p:spPr>
          <a:xfrm>
            <a:off x="822960" y="1463040"/>
            <a:ext cx="2197160" cy="4754880"/>
          </a:xfrm>
          <a:prstGeom prst="rect">
            <a:avLst/>
          </a:prstGeom>
          <a:ln w="9525">
            <a:solidFill>
              <a:srgbClr val="D9D3C0"/>
            </a:solidFill>
          </a:ln>
        </p:spPr>
      </p:pic>
      <p:pic>
        <p:nvPicPr>
          <p:cNvPr id="4" name="Picture 3" descr="94-parent-suivi.png"/>
          <p:cNvPicPr>
            <a:picLocks noChangeAspect="1"/>
          </p:cNvPicPr>
          <p:nvPr/>
        </p:nvPicPr>
        <p:blipFill>
          <a:blip r:embed="rId3"/>
          <a:stretch>
            <a:fillRect/>
          </a:stretch>
        </p:blipFill>
        <p:spPr>
          <a:xfrm>
            <a:off x="3931920" y="1463040"/>
            <a:ext cx="2197160" cy="4754880"/>
          </a:xfrm>
          <a:prstGeom prst="rect">
            <a:avLst/>
          </a:prstGeom>
          <a:ln w="9525">
            <a:solidFill>
              <a:srgbClr val="D9D3C0"/>
            </a:solidFill>
          </a:ln>
        </p:spPr>
      </p:pic>
      <p:sp>
        <p:nvSpPr>
          <p:cNvPr id="5" name="Oval 4"/>
          <p:cNvSpPr/>
          <p:nvPr/>
        </p:nvSpPr>
        <p:spPr>
          <a:xfrm>
            <a:off x="7223760" y="173736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6" name="TextBox 5"/>
          <p:cNvSpPr txBox="1"/>
          <p:nvPr/>
        </p:nvSpPr>
        <p:spPr>
          <a:xfrm>
            <a:off x="7790688" y="1719072"/>
            <a:ext cx="4005072" cy="548640"/>
          </a:xfrm>
          <a:prstGeom prst="rect">
            <a:avLst/>
          </a:prstGeom>
          <a:noFill/>
        </p:spPr>
        <p:txBody>
          <a:bodyPr wrap="square" anchor="t" lIns="0" rIns="0" tIns="0" bIns="0">
            <a:spAutoFit/>
          </a:bodyPr>
          <a:lstStyle/>
          <a:p>
            <a:pPr algn="l"/>
            <a:r>
              <a:rPr sz="1600" b="1" i="0">
                <a:solidFill>
                  <a:srgbClr val="0E1B40"/>
                </a:solidFill>
                <a:latin typeface="Calibri"/>
              </a:rPr>
              <a:t>Paiements : payé, reste à payer, date limite</a:t>
            </a:r>
          </a:p>
        </p:txBody>
      </p:sp>
      <p:sp>
        <p:nvSpPr>
          <p:cNvPr id="7" name="Oval 6"/>
          <p:cNvSpPr/>
          <p:nvPr/>
        </p:nvSpPr>
        <p:spPr>
          <a:xfrm>
            <a:off x="7223760" y="2377439"/>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8" name="TextBox 7"/>
          <p:cNvSpPr txBox="1"/>
          <p:nvPr/>
        </p:nvSpPr>
        <p:spPr>
          <a:xfrm>
            <a:off x="7790688" y="2359151"/>
            <a:ext cx="4005072" cy="548640"/>
          </a:xfrm>
          <a:prstGeom prst="rect">
            <a:avLst/>
          </a:prstGeom>
          <a:noFill/>
        </p:spPr>
        <p:txBody>
          <a:bodyPr wrap="square" anchor="t" lIns="0" rIns="0" tIns="0" bIns="0">
            <a:spAutoFit/>
          </a:bodyPr>
          <a:lstStyle/>
          <a:p>
            <a:pPr algn="l"/>
            <a:r>
              <a:rPr sz="1600" b="1" i="0">
                <a:solidFill>
                  <a:srgbClr val="0E1B40"/>
                </a:solidFill>
                <a:latin typeface="Calibri"/>
              </a:rPr>
              <a:t>Calendrier de chaque enfant, notifications des changements</a:t>
            </a:r>
          </a:p>
        </p:txBody>
      </p:sp>
      <p:sp>
        <p:nvSpPr>
          <p:cNvPr id="9" name="Oval 8"/>
          <p:cNvSpPr/>
          <p:nvPr/>
        </p:nvSpPr>
        <p:spPr>
          <a:xfrm>
            <a:off x="7223760" y="301752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0" name="TextBox 9"/>
          <p:cNvSpPr txBox="1"/>
          <p:nvPr/>
        </p:nvSpPr>
        <p:spPr>
          <a:xfrm>
            <a:off x="7790688" y="2999232"/>
            <a:ext cx="4005072" cy="548640"/>
          </a:xfrm>
          <a:prstGeom prst="rect">
            <a:avLst/>
          </a:prstGeom>
          <a:noFill/>
        </p:spPr>
        <p:txBody>
          <a:bodyPr wrap="square" anchor="t" lIns="0" rIns="0" tIns="0" bIns="0">
            <a:spAutoFit/>
          </a:bodyPr>
          <a:lstStyle/>
          <a:p>
            <a:pPr algn="l"/>
            <a:r>
              <a:rPr sz="1600" b="1" i="0">
                <a:solidFill>
                  <a:srgbClr val="0E1B40"/>
                </a:solidFill>
                <a:latin typeface="Calibri"/>
              </a:rPr>
              <a:t>Évaluations mensuelles et notes des contrôles</a:t>
            </a:r>
          </a:p>
        </p:txBody>
      </p:sp>
      <p:sp>
        <p:nvSpPr>
          <p:cNvPr id="11" name="Oval 10"/>
          <p:cNvSpPr/>
          <p:nvPr/>
        </p:nvSpPr>
        <p:spPr>
          <a:xfrm>
            <a:off x="7223760" y="3657600"/>
            <a:ext cx="384048" cy="384048"/>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B40"/>
                </a:solidFill>
                <a:latin typeface="Calibri"/>
              </a:rPr>
              <a:t>✓</a:t>
            </a:r>
          </a:p>
        </p:txBody>
      </p:sp>
      <p:sp>
        <p:nvSpPr>
          <p:cNvPr id="12" name="TextBox 11"/>
          <p:cNvSpPr txBox="1"/>
          <p:nvPr/>
        </p:nvSpPr>
        <p:spPr>
          <a:xfrm>
            <a:off x="7790688" y="3639312"/>
            <a:ext cx="4005072" cy="548640"/>
          </a:xfrm>
          <a:prstGeom prst="rect">
            <a:avLst/>
          </a:prstGeom>
          <a:noFill/>
        </p:spPr>
        <p:txBody>
          <a:bodyPr wrap="square" anchor="t" lIns="0" rIns="0" tIns="0" bIns="0">
            <a:spAutoFit/>
          </a:bodyPr>
          <a:lstStyle/>
          <a:p>
            <a:pPr algn="l"/>
            <a:r>
              <a:rPr sz="1600" b="1" i="0">
                <a:solidFill>
                  <a:srgbClr val="0E1B40"/>
                </a:solidFill>
                <a:latin typeface="Calibri"/>
              </a:rPr>
              <a:t>Messages directs avec l'école</a:t>
            </a:r>
          </a:p>
        </p:txBody>
      </p:sp>
      <p:sp>
        <p:nvSpPr>
          <p:cNvPr id="13" name="TextBox 12"/>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14" name="TextBox 13"/>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B40"/>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FFFFFF"/>
                </a:solidFill>
                <a:latin typeface="Cambria"/>
              </a:rPr>
              <a:t>Français, arabe, anglais — sur tous les écrans</a:t>
            </a:r>
          </a:p>
        </p:txBody>
      </p:sp>
      <p:pic>
        <p:nvPicPr>
          <p:cNvPr id="3" name="Picture 2" descr="10-accueil.png"/>
          <p:cNvPicPr>
            <a:picLocks noChangeAspect="1"/>
          </p:cNvPicPr>
          <p:nvPr/>
        </p:nvPicPr>
        <p:blipFill>
          <a:blip r:embed="rId2"/>
          <a:stretch>
            <a:fillRect/>
          </a:stretch>
        </p:blipFill>
        <p:spPr>
          <a:xfrm>
            <a:off x="640080" y="1463040"/>
            <a:ext cx="5029200" cy="3143250"/>
          </a:xfrm>
          <a:prstGeom prst="rect">
            <a:avLst/>
          </a:prstGeom>
          <a:ln w="9525">
            <a:solidFill>
              <a:srgbClr val="D9D3C0"/>
            </a:solidFill>
          </a:ln>
        </p:spPr>
      </p:pic>
      <p:pic>
        <p:nvPicPr>
          <p:cNvPr id="4" name="Picture 3" descr="72-mode-sombre.png"/>
          <p:cNvPicPr>
            <a:picLocks noChangeAspect="1"/>
          </p:cNvPicPr>
          <p:nvPr/>
        </p:nvPicPr>
        <p:blipFill>
          <a:blip r:embed="rId3"/>
          <a:stretch>
            <a:fillRect/>
          </a:stretch>
        </p:blipFill>
        <p:spPr>
          <a:xfrm>
            <a:off x="6309360" y="1463040"/>
            <a:ext cx="5029200" cy="3143250"/>
          </a:xfrm>
          <a:prstGeom prst="rect">
            <a:avLst/>
          </a:prstGeom>
          <a:ln w="9525">
            <a:solidFill>
              <a:srgbClr val="D9D3C0"/>
            </a:solidFill>
          </a:ln>
        </p:spPr>
      </p:pic>
      <p:sp>
        <p:nvSpPr>
          <p:cNvPr id="5" name="TextBox 4"/>
          <p:cNvSpPr txBox="1"/>
          <p:nvPr/>
        </p:nvSpPr>
        <p:spPr>
          <a:xfrm>
            <a:off x="640080" y="4892040"/>
            <a:ext cx="5303520" cy="1280160"/>
          </a:xfrm>
          <a:prstGeom prst="rect">
            <a:avLst/>
          </a:prstGeom>
          <a:noFill/>
        </p:spPr>
        <p:txBody>
          <a:bodyPr wrap="square" anchor="t" lIns="0" rIns="0" tIns="0" bIns="0">
            <a:spAutoFit/>
          </a:bodyPr>
          <a:lstStyle/>
          <a:p>
            <a:pPr algn="l"/>
            <a:r>
              <a:rPr sz="1600" b="0" i="0">
                <a:solidFill>
                  <a:srgbClr val="FFFFFF"/>
                </a:solidFill>
                <a:latin typeface="Calibri"/>
              </a:rPr>
              <a:t>Arabe de droite à gauche, avec notifications et e-mails dans la langue de chacun</a:t>
            </a:r>
          </a:p>
        </p:txBody>
      </p:sp>
      <p:sp>
        <p:nvSpPr>
          <p:cNvPr id="6" name="TextBox 5"/>
          <p:cNvSpPr txBox="1"/>
          <p:nvPr/>
        </p:nvSpPr>
        <p:spPr>
          <a:xfrm>
            <a:off x="6309360" y="4892040"/>
            <a:ext cx="5303520" cy="1280160"/>
          </a:xfrm>
          <a:prstGeom prst="rect">
            <a:avLst/>
          </a:prstGeom>
          <a:noFill/>
        </p:spPr>
        <p:txBody>
          <a:bodyPr wrap="square" anchor="t" lIns="0" rIns="0" tIns="0" bIns="0">
            <a:spAutoFit/>
          </a:bodyPr>
          <a:lstStyle/>
          <a:p>
            <a:pPr algn="l"/>
            <a:r>
              <a:rPr sz="1600" b="0" i="0">
                <a:solidFill>
                  <a:srgbClr val="FFFFFF"/>
                </a:solidFill>
                <a:latin typeface="Calibri"/>
              </a:rPr>
              <a:t>Mode clair ou sombre, aux couleurs de l'école. S'installe comme une application sur téléphone et ordinateur</a:t>
            </a:r>
          </a:p>
        </p:txBody>
      </p:sp>
      <p:sp>
        <p:nvSpPr>
          <p:cNvPr id="7" name="TextBox 6"/>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9FB4FF"/>
                </a:solidFill>
                <a:latin typeface="Calibri"/>
              </a:rPr>
              <a:t>Siraj · سراج</a:t>
            </a:r>
          </a:p>
        </p:txBody>
      </p:sp>
      <p:sp>
        <p:nvSpPr>
          <p:cNvPr id="8" name="TextBox 7"/>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9FB4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Vos données et vos responsabilités sont protégées</a:t>
            </a:r>
          </a:p>
        </p:txBody>
      </p:sp>
      <p:sp>
        <p:nvSpPr>
          <p:cNvPr id="3" name="Rounded Rectangle 2"/>
          <p:cNvSpPr/>
          <p:nvPr/>
        </p:nvSpPr>
        <p:spPr>
          <a:xfrm>
            <a:off x="640080" y="1600200"/>
            <a:ext cx="352044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3017520" cy="457200"/>
          </a:xfrm>
          <a:prstGeom prst="rect">
            <a:avLst/>
          </a:prstGeom>
          <a:noFill/>
        </p:spPr>
        <p:txBody>
          <a:bodyPr wrap="square" anchor="t" lIns="0" rIns="0" tIns="0" bIns="0">
            <a:spAutoFit/>
          </a:bodyPr>
          <a:lstStyle/>
          <a:p>
            <a:pPr algn="l"/>
            <a:r>
              <a:rPr sz="1800" b="1" i="0">
                <a:solidFill>
                  <a:srgbClr val="0E1B40"/>
                </a:solidFill>
                <a:latin typeface="Calibri"/>
              </a:rPr>
              <a:t>Un classeur par école</a:t>
            </a:r>
          </a:p>
        </p:txBody>
      </p:sp>
      <p:sp>
        <p:nvSpPr>
          <p:cNvPr id="5" name="TextBox 4"/>
          <p:cNvSpPr txBox="1"/>
          <p:nvPr/>
        </p:nvSpPr>
        <p:spPr>
          <a:xfrm>
            <a:off x="914400" y="2468880"/>
            <a:ext cx="3017520" cy="1097280"/>
          </a:xfrm>
          <a:prstGeom prst="rect">
            <a:avLst/>
          </a:prstGeom>
          <a:noFill/>
        </p:spPr>
        <p:txBody>
          <a:bodyPr wrap="square" anchor="t" lIns="0" rIns="0" tIns="0" bIns="0">
            <a:spAutoFit/>
          </a:bodyPr>
          <a:lstStyle/>
          <a:p>
            <a:pPr algn="l"/>
            <a:r>
              <a:rPr sz="1400" b="0" i="0">
                <a:solidFill>
                  <a:srgbClr val="6B7385"/>
                </a:solidFill>
                <a:latin typeface="Calibri"/>
              </a:rPr>
              <a:t>Aucune donnée mélangée entre écoles</a:t>
            </a:r>
          </a:p>
        </p:txBody>
      </p:sp>
      <p:sp>
        <p:nvSpPr>
          <p:cNvPr id="6" name="Rounded Rectangle 5"/>
          <p:cNvSpPr/>
          <p:nvPr/>
        </p:nvSpPr>
        <p:spPr>
          <a:xfrm>
            <a:off x="4343400" y="1600200"/>
            <a:ext cx="352044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3017520" cy="457200"/>
          </a:xfrm>
          <a:prstGeom prst="rect">
            <a:avLst/>
          </a:prstGeom>
          <a:noFill/>
        </p:spPr>
        <p:txBody>
          <a:bodyPr wrap="square" anchor="t" lIns="0" rIns="0" tIns="0" bIns="0">
            <a:spAutoFit/>
          </a:bodyPr>
          <a:lstStyle/>
          <a:p>
            <a:pPr algn="l"/>
            <a:r>
              <a:rPr sz="1800" b="1" i="0">
                <a:solidFill>
                  <a:srgbClr val="0E1B40"/>
                </a:solidFill>
                <a:latin typeface="Calibri"/>
              </a:rPr>
              <a:t>Droits par rôle</a:t>
            </a:r>
          </a:p>
        </p:txBody>
      </p:sp>
      <p:sp>
        <p:nvSpPr>
          <p:cNvPr id="8" name="TextBox 7"/>
          <p:cNvSpPr txBox="1"/>
          <p:nvPr/>
        </p:nvSpPr>
        <p:spPr>
          <a:xfrm>
            <a:off x="4617720" y="2468880"/>
            <a:ext cx="3017520" cy="1097280"/>
          </a:xfrm>
          <a:prstGeom prst="rect">
            <a:avLst/>
          </a:prstGeom>
          <a:noFill/>
        </p:spPr>
        <p:txBody>
          <a:bodyPr wrap="square" anchor="t" lIns="0" rIns="0" tIns="0" bIns="0">
            <a:spAutoFit/>
          </a:bodyPr>
          <a:lstStyle/>
          <a:p>
            <a:pPr algn="l"/>
            <a:r>
              <a:rPr sz="1400" b="0" i="0">
                <a:solidFill>
                  <a:srgbClr val="6B7385"/>
                </a:solidFill>
                <a:latin typeface="Calibri"/>
              </a:rPr>
              <a:t>Chacun ne voit que son périmètre ; la secrétaire n'a que les droits accordés</a:t>
            </a:r>
          </a:p>
        </p:txBody>
      </p:sp>
      <p:sp>
        <p:nvSpPr>
          <p:cNvPr id="9" name="Rounded Rectangle 8"/>
          <p:cNvSpPr/>
          <p:nvPr/>
        </p:nvSpPr>
        <p:spPr>
          <a:xfrm>
            <a:off x="8046719" y="1600200"/>
            <a:ext cx="352044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874519"/>
            <a:ext cx="3017520" cy="457200"/>
          </a:xfrm>
          <a:prstGeom prst="rect">
            <a:avLst/>
          </a:prstGeom>
          <a:noFill/>
        </p:spPr>
        <p:txBody>
          <a:bodyPr wrap="square" anchor="t" lIns="0" rIns="0" tIns="0" bIns="0">
            <a:spAutoFit/>
          </a:bodyPr>
          <a:lstStyle/>
          <a:p>
            <a:pPr algn="l"/>
            <a:r>
              <a:rPr sz="1800" b="1" i="0">
                <a:solidFill>
                  <a:srgbClr val="0E1B40"/>
                </a:solidFill>
                <a:latin typeface="Calibri"/>
              </a:rPr>
              <a:t>Conditions d'utilisation</a:t>
            </a:r>
          </a:p>
        </p:txBody>
      </p:sp>
      <p:sp>
        <p:nvSpPr>
          <p:cNvPr id="11" name="TextBox 10"/>
          <p:cNvSpPr txBox="1"/>
          <p:nvPr/>
        </p:nvSpPr>
        <p:spPr>
          <a:xfrm>
            <a:off x="8321040" y="2468880"/>
            <a:ext cx="3017520" cy="1097280"/>
          </a:xfrm>
          <a:prstGeom prst="rect">
            <a:avLst/>
          </a:prstGeom>
          <a:noFill/>
        </p:spPr>
        <p:txBody>
          <a:bodyPr wrap="square" anchor="t" lIns="0" rIns="0" tIns="0" bIns="0">
            <a:spAutoFit/>
          </a:bodyPr>
          <a:lstStyle/>
          <a:p>
            <a:pPr algn="l"/>
            <a:r>
              <a:rPr sz="1400" b="0" i="0">
                <a:solidFill>
                  <a:srgbClr val="6B7385"/>
                </a:solidFill>
                <a:latin typeface="Calibri"/>
              </a:rPr>
              <a:t>Acceptation obligatoire à l'ouverture du compte, en 3 langues</a:t>
            </a:r>
          </a:p>
        </p:txBody>
      </p:sp>
      <p:sp>
        <p:nvSpPr>
          <p:cNvPr id="12" name="Rounded Rectangle 11"/>
          <p:cNvSpPr/>
          <p:nvPr/>
        </p:nvSpPr>
        <p:spPr>
          <a:xfrm>
            <a:off x="640080" y="3840480"/>
            <a:ext cx="352044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3017520" cy="457200"/>
          </a:xfrm>
          <a:prstGeom prst="rect">
            <a:avLst/>
          </a:prstGeom>
          <a:noFill/>
        </p:spPr>
        <p:txBody>
          <a:bodyPr wrap="square" anchor="t" lIns="0" rIns="0" tIns="0" bIns="0">
            <a:spAutoFit/>
          </a:bodyPr>
          <a:lstStyle/>
          <a:p>
            <a:pPr algn="l"/>
            <a:r>
              <a:rPr sz="1800" b="1" i="0">
                <a:solidFill>
                  <a:srgbClr val="0E1B40"/>
                </a:solidFill>
                <a:latin typeface="Calibri"/>
              </a:rPr>
              <a:t>Consentement parental</a:t>
            </a:r>
          </a:p>
        </p:txBody>
      </p:sp>
      <p:sp>
        <p:nvSpPr>
          <p:cNvPr id="14" name="TextBox 13"/>
          <p:cNvSpPr txBox="1"/>
          <p:nvPr/>
        </p:nvSpPr>
        <p:spPr>
          <a:xfrm>
            <a:off x="914400" y="4709160"/>
            <a:ext cx="3017520" cy="1097280"/>
          </a:xfrm>
          <a:prstGeom prst="rect">
            <a:avLst/>
          </a:prstGeom>
          <a:noFill/>
        </p:spPr>
        <p:txBody>
          <a:bodyPr wrap="square" anchor="t" lIns="0" rIns="0" tIns="0" bIns="0">
            <a:spAutoFit/>
          </a:bodyPr>
          <a:lstStyle/>
          <a:p>
            <a:pPr algn="l"/>
            <a:r>
              <a:rPr sz="1400" b="0" i="0">
                <a:solidFill>
                  <a:srgbClr val="6B7385"/>
                </a:solidFill>
                <a:latin typeface="Calibri"/>
              </a:rPr>
              <a:t>Enregistré dans la fiche de chaque élève</a:t>
            </a:r>
          </a:p>
        </p:txBody>
      </p:sp>
      <p:sp>
        <p:nvSpPr>
          <p:cNvPr id="15" name="Rounded Rectangle 14"/>
          <p:cNvSpPr/>
          <p:nvPr/>
        </p:nvSpPr>
        <p:spPr>
          <a:xfrm>
            <a:off x="4343400" y="3840480"/>
            <a:ext cx="352044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4114800"/>
            <a:ext cx="3017520" cy="457200"/>
          </a:xfrm>
          <a:prstGeom prst="rect">
            <a:avLst/>
          </a:prstGeom>
          <a:noFill/>
        </p:spPr>
        <p:txBody>
          <a:bodyPr wrap="square" anchor="t" lIns="0" rIns="0" tIns="0" bIns="0">
            <a:spAutoFit/>
          </a:bodyPr>
          <a:lstStyle/>
          <a:p>
            <a:pPr algn="l"/>
            <a:r>
              <a:rPr sz="1800" b="1" i="0">
                <a:solidFill>
                  <a:srgbClr val="0E1B40"/>
                </a:solidFill>
                <a:latin typeface="Calibri"/>
              </a:rPr>
              <a:t>Licence suivie</a:t>
            </a:r>
          </a:p>
        </p:txBody>
      </p:sp>
      <p:sp>
        <p:nvSpPr>
          <p:cNvPr id="17" name="TextBox 16"/>
          <p:cNvSpPr txBox="1"/>
          <p:nvPr/>
        </p:nvSpPr>
        <p:spPr>
          <a:xfrm>
            <a:off x="4617720" y="4709160"/>
            <a:ext cx="3017520" cy="1097280"/>
          </a:xfrm>
          <a:prstGeom prst="rect">
            <a:avLst/>
          </a:prstGeom>
          <a:noFill/>
        </p:spPr>
        <p:txBody>
          <a:bodyPr wrap="square" anchor="t" lIns="0" rIns="0" tIns="0" bIns="0">
            <a:spAutoFit/>
          </a:bodyPr>
          <a:lstStyle/>
          <a:p>
            <a:pPr algn="l"/>
            <a:r>
              <a:rPr sz="1400" b="0" i="0">
                <a:solidFill>
                  <a:srgbClr val="6B7385"/>
                </a:solidFill>
                <a:latin typeface="Calibri"/>
              </a:rPr>
              <a:t>Essai, abonnement ou achat unique ; support à distance en mode gérant</a:t>
            </a:r>
          </a:p>
        </p:txBody>
      </p:sp>
      <p:sp>
        <p:nvSpPr>
          <p:cNvPr id="18" name="Rounded Rectangle 17"/>
          <p:cNvSpPr/>
          <p:nvPr/>
        </p:nvSpPr>
        <p:spPr>
          <a:xfrm>
            <a:off x="8046719" y="3840480"/>
            <a:ext cx="352044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4114800"/>
            <a:ext cx="3017520" cy="457200"/>
          </a:xfrm>
          <a:prstGeom prst="rect">
            <a:avLst/>
          </a:prstGeom>
          <a:noFill/>
        </p:spPr>
        <p:txBody>
          <a:bodyPr wrap="square" anchor="t" lIns="0" rIns="0" tIns="0" bIns="0">
            <a:spAutoFit/>
          </a:bodyPr>
          <a:lstStyle/>
          <a:p>
            <a:pPr algn="l"/>
            <a:r>
              <a:rPr sz="1800" b="1" i="0">
                <a:solidFill>
                  <a:srgbClr val="0E1B40"/>
                </a:solidFill>
                <a:latin typeface="Calibri"/>
              </a:rPr>
              <a:t>Données exportables</a:t>
            </a:r>
          </a:p>
        </p:txBody>
      </p:sp>
      <p:sp>
        <p:nvSpPr>
          <p:cNvPr id="20" name="TextBox 19"/>
          <p:cNvSpPr txBox="1"/>
          <p:nvPr/>
        </p:nvSpPr>
        <p:spPr>
          <a:xfrm>
            <a:off x="8321040" y="4709160"/>
            <a:ext cx="3017520" cy="1097280"/>
          </a:xfrm>
          <a:prstGeom prst="rect">
            <a:avLst/>
          </a:prstGeom>
          <a:noFill/>
        </p:spPr>
        <p:txBody>
          <a:bodyPr wrap="square" anchor="t" lIns="0" rIns="0" tIns="0" bIns="0">
            <a:spAutoFit/>
          </a:bodyPr>
          <a:lstStyle/>
          <a:p>
            <a:pPr algn="l"/>
            <a:r>
              <a:rPr sz="1400" b="0" i="0">
                <a:solidFill>
                  <a:srgbClr val="6B7385"/>
                </a:solidFill>
                <a:latin typeface="Calibri"/>
              </a:rPr>
              <a:t>Vos données en CSV à tout moment</a:t>
            </a:r>
          </a:p>
        </p:txBody>
      </p:sp>
      <p:sp>
        <p:nvSpPr>
          <p:cNvPr id="21" name="TextBox 20"/>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22" name="TextBox 21"/>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anchor="ctr" lIns="0" rIns="0" tIns="0" bIns="0">
            <a:spAutoFit/>
          </a:bodyPr>
          <a:lstStyle/>
          <a:p>
            <a:pPr algn="l"/>
            <a:r>
              <a:rPr sz="3600" b="1" i="0">
                <a:solidFill>
                  <a:srgbClr val="0E1B40"/>
                </a:solidFill>
                <a:latin typeface="Cambria"/>
              </a:rPr>
              <a:t>Démarrer en trois étapes</a:t>
            </a:r>
          </a:p>
        </p:txBody>
      </p:sp>
      <p:sp>
        <p:nvSpPr>
          <p:cNvPr id="3" name="Rounded Rectangle 2"/>
          <p:cNvSpPr/>
          <p:nvPr/>
        </p:nvSpPr>
        <p:spPr>
          <a:xfrm>
            <a:off x="640080" y="1645920"/>
            <a:ext cx="3520440"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920240"/>
            <a:ext cx="640080" cy="640080"/>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0E1B40"/>
                </a:solidFill>
                <a:latin typeface="Calibri"/>
              </a:rPr>
              <a:t>1</a:t>
            </a:r>
          </a:p>
        </p:txBody>
      </p:sp>
      <p:sp>
        <p:nvSpPr>
          <p:cNvPr id="5" name="TextBox 4"/>
          <p:cNvSpPr txBox="1"/>
          <p:nvPr/>
        </p:nvSpPr>
        <p:spPr>
          <a:xfrm>
            <a:off x="914400" y="2743200"/>
            <a:ext cx="3017520" cy="731520"/>
          </a:xfrm>
          <a:prstGeom prst="rect">
            <a:avLst/>
          </a:prstGeom>
          <a:noFill/>
        </p:spPr>
        <p:txBody>
          <a:bodyPr wrap="square" anchor="t" lIns="0" rIns="0" tIns="0" bIns="0">
            <a:spAutoFit/>
          </a:bodyPr>
          <a:lstStyle/>
          <a:p>
            <a:pPr algn="l"/>
            <a:r>
              <a:rPr sz="2000" b="1" i="0">
                <a:solidFill>
                  <a:srgbClr val="0E1B40"/>
                </a:solidFill>
                <a:latin typeface="Calibri"/>
              </a:rPr>
              <a:t>Demandez votre essai</a:t>
            </a:r>
          </a:p>
        </p:txBody>
      </p:sp>
      <p:sp>
        <p:nvSpPr>
          <p:cNvPr id="6" name="TextBox 5"/>
          <p:cNvSpPr txBox="1"/>
          <p:nvPr/>
        </p:nvSpPr>
        <p:spPr>
          <a:xfrm>
            <a:off x="914400" y="3474720"/>
            <a:ext cx="3017520" cy="731520"/>
          </a:xfrm>
          <a:prstGeom prst="rect">
            <a:avLst/>
          </a:prstGeom>
          <a:noFill/>
        </p:spPr>
        <p:txBody>
          <a:bodyPr wrap="square" anchor="t" lIns="0" rIns="0" tIns="0" bIns="0">
            <a:spAutoFit/>
          </a:bodyPr>
          <a:lstStyle/>
          <a:p>
            <a:pPr algn="l"/>
            <a:r>
              <a:rPr sz="1400" b="0" i="0">
                <a:solidFill>
                  <a:srgbClr val="6B7385"/>
                </a:solidFill>
                <a:latin typeface="Calibri"/>
              </a:rPr>
              <a:t>Un formulaire sur la page d'accueil de Siraj</a:t>
            </a:r>
          </a:p>
        </p:txBody>
      </p:sp>
      <p:sp>
        <p:nvSpPr>
          <p:cNvPr id="7" name="Rounded Rectangle 6"/>
          <p:cNvSpPr/>
          <p:nvPr/>
        </p:nvSpPr>
        <p:spPr>
          <a:xfrm>
            <a:off x="4389120" y="1645920"/>
            <a:ext cx="3520440"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663440" y="1920240"/>
            <a:ext cx="640080" cy="640080"/>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0E1B40"/>
                </a:solidFill>
                <a:latin typeface="Calibri"/>
              </a:rPr>
              <a:t>2</a:t>
            </a:r>
          </a:p>
        </p:txBody>
      </p:sp>
      <p:sp>
        <p:nvSpPr>
          <p:cNvPr id="9" name="TextBox 8"/>
          <p:cNvSpPr txBox="1"/>
          <p:nvPr/>
        </p:nvSpPr>
        <p:spPr>
          <a:xfrm>
            <a:off x="4663440" y="2743200"/>
            <a:ext cx="3017520" cy="731520"/>
          </a:xfrm>
          <a:prstGeom prst="rect">
            <a:avLst/>
          </a:prstGeom>
          <a:noFill/>
        </p:spPr>
        <p:txBody>
          <a:bodyPr wrap="square" anchor="t" lIns="0" rIns="0" tIns="0" bIns="0">
            <a:spAutoFit/>
          </a:bodyPr>
          <a:lstStyle/>
          <a:p>
            <a:pPr algn="l"/>
            <a:r>
              <a:rPr sz="2000" b="1" i="0">
                <a:solidFill>
                  <a:srgbClr val="0E1B40"/>
                </a:solidFill>
                <a:latin typeface="Calibri"/>
              </a:rPr>
              <a:t>Nous créons votre école</a:t>
            </a:r>
          </a:p>
        </p:txBody>
      </p:sp>
      <p:sp>
        <p:nvSpPr>
          <p:cNvPr id="10" name="TextBox 9"/>
          <p:cNvSpPr txBox="1"/>
          <p:nvPr/>
        </p:nvSpPr>
        <p:spPr>
          <a:xfrm>
            <a:off x="4663440" y="3474720"/>
            <a:ext cx="3017520" cy="731520"/>
          </a:xfrm>
          <a:prstGeom prst="rect">
            <a:avLst/>
          </a:prstGeom>
          <a:noFill/>
        </p:spPr>
        <p:txBody>
          <a:bodyPr wrap="square" anchor="t" lIns="0" rIns="0" tIns="0" bIns="0">
            <a:spAutoFit/>
          </a:bodyPr>
          <a:lstStyle/>
          <a:p>
            <a:pPr algn="l"/>
            <a:r>
              <a:rPr sz="1400" b="0" i="0">
                <a:solidFill>
                  <a:srgbClr val="6B7385"/>
                </a:solidFill>
                <a:latin typeface="Calibri"/>
              </a:rPr>
              <a:t>Comptes, groupes et élèves : nous vous guidons au démarrage</a:t>
            </a:r>
          </a:p>
        </p:txBody>
      </p:sp>
      <p:sp>
        <p:nvSpPr>
          <p:cNvPr id="11" name="Rounded Rectangle 10"/>
          <p:cNvSpPr/>
          <p:nvPr/>
        </p:nvSpPr>
        <p:spPr>
          <a:xfrm>
            <a:off x="8138159" y="1645920"/>
            <a:ext cx="3520440"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12480" y="1920240"/>
            <a:ext cx="640080" cy="640080"/>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0E1B40"/>
                </a:solidFill>
                <a:latin typeface="Calibri"/>
              </a:rPr>
              <a:t>3</a:t>
            </a:r>
          </a:p>
        </p:txBody>
      </p:sp>
      <p:sp>
        <p:nvSpPr>
          <p:cNvPr id="13" name="TextBox 12"/>
          <p:cNvSpPr txBox="1"/>
          <p:nvPr/>
        </p:nvSpPr>
        <p:spPr>
          <a:xfrm>
            <a:off x="8412480" y="2743200"/>
            <a:ext cx="3017520" cy="731520"/>
          </a:xfrm>
          <a:prstGeom prst="rect">
            <a:avLst/>
          </a:prstGeom>
          <a:noFill/>
        </p:spPr>
        <p:txBody>
          <a:bodyPr wrap="square" anchor="t" lIns="0" rIns="0" tIns="0" bIns="0">
            <a:spAutoFit/>
          </a:bodyPr>
          <a:lstStyle/>
          <a:p>
            <a:pPr algn="l"/>
            <a:r>
              <a:rPr sz="2000" b="1" i="0">
                <a:solidFill>
                  <a:srgbClr val="0E1B40"/>
                </a:solidFill>
                <a:latin typeface="Calibri"/>
              </a:rPr>
              <a:t>Vous gérez, nous restons à côté</a:t>
            </a:r>
          </a:p>
        </p:txBody>
      </p:sp>
      <p:sp>
        <p:nvSpPr>
          <p:cNvPr id="14" name="TextBox 13"/>
          <p:cNvSpPr txBox="1"/>
          <p:nvPr/>
        </p:nvSpPr>
        <p:spPr>
          <a:xfrm>
            <a:off x="8412480" y="3474720"/>
            <a:ext cx="3017520" cy="731520"/>
          </a:xfrm>
          <a:prstGeom prst="rect">
            <a:avLst/>
          </a:prstGeom>
          <a:noFill/>
        </p:spPr>
        <p:txBody>
          <a:bodyPr wrap="square" anchor="t" lIns="0" rIns="0" tIns="0" bIns="0">
            <a:spAutoFit/>
          </a:bodyPr>
          <a:lstStyle/>
          <a:p>
            <a:pPr algn="l"/>
            <a:r>
              <a:rPr sz="1400" b="0" i="0">
                <a:solidFill>
                  <a:srgbClr val="6B7385"/>
                </a:solidFill>
                <a:latin typeface="Calibri"/>
              </a:rPr>
              <a:t>Aide intégrée, manuel et support à distance</a:t>
            </a:r>
          </a:p>
        </p:txBody>
      </p:sp>
      <p:sp>
        <p:nvSpPr>
          <p:cNvPr id="15" name="TextBox 14"/>
          <p:cNvSpPr txBox="1"/>
          <p:nvPr/>
        </p:nvSpPr>
        <p:spPr>
          <a:xfrm>
            <a:off x="640080" y="4617720"/>
            <a:ext cx="10881360" cy="457200"/>
          </a:xfrm>
          <a:prstGeom prst="rect">
            <a:avLst/>
          </a:prstGeom>
          <a:noFill/>
        </p:spPr>
        <p:txBody>
          <a:bodyPr wrap="square" anchor="t" lIns="0" rIns="0" tIns="0" bIns="0">
            <a:spAutoFit/>
          </a:bodyPr>
          <a:lstStyle/>
          <a:p>
            <a:pPr algn="l"/>
            <a:r>
              <a:rPr sz="1800" b="1" i="0">
                <a:solidFill>
                  <a:srgbClr val="1F3470"/>
                </a:solidFill>
                <a:latin typeface="Calibri"/>
              </a:rPr>
              <a:t>Formules : mensuelle · annuelle · paiement unique — tarifs communiqués sur demande</a:t>
            </a:r>
          </a:p>
        </p:txBody>
      </p:sp>
      <p:sp>
        <p:nvSpPr>
          <p:cNvPr id="16" name="TextBox 15"/>
          <p:cNvSpPr txBox="1"/>
          <p:nvPr/>
        </p:nvSpPr>
        <p:spPr>
          <a:xfrm>
            <a:off x="640080" y="5257800"/>
            <a:ext cx="10881360" cy="731520"/>
          </a:xfrm>
          <a:prstGeom prst="rect">
            <a:avLst/>
          </a:prstGeom>
          <a:noFill/>
        </p:spPr>
        <p:txBody>
          <a:bodyPr wrap="square" anchor="t" lIns="0" rIns="0" tIns="0" bIns="0">
            <a:spAutoFit/>
          </a:bodyPr>
          <a:lstStyle/>
          <a:p>
            <a:pPr algn="l"/>
            <a:r>
              <a:rPr sz="1700" b="0" i="0">
                <a:solidFill>
                  <a:srgbClr val="1B2233"/>
                </a:solidFill>
                <a:latin typeface="Calibri"/>
              </a:rPr>
              <a:t>Essai gratuit sans engagement : toutes les fonctions, avec vos vraies données.</a:t>
            </a:r>
          </a:p>
        </p:txBody>
      </p:sp>
      <p:sp>
        <p:nvSpPr>
          <p:cNvPr id="17" name="TextBox 16"/>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6B7385"/>
                </a:solidFill>
                <a:latin typeface="Calibri"/>
              </a:rPr>
              <a:t>Siraj · سراج</a:t>
            </a:r>
          </a:p>
        </p:txBody>
      </p:sp>
      <p:sp>
        <p:nvSpPr>
          <p:cNvPr id="18" name="TextBox 17"/>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6B7385"/>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B40"/>
        </a:solidFill>
        <a:effectLst/>
      </p:bgPr>
    </p:bg>
    <p:spTree>
      <p:nvGrpSpPr>
        <p:cNvPr id="1" name=""/>
        <p:cNvGrpSpPr/>
        <p:nvPr/>
      </p:nvGrpSpPr>
      <p:grpSpPr/>
      <p:sp>
        <p:nvSpPr>
          <p:cNvPr id="2" name="TextBox 1"/>
          <p:cNvSpPr txBox="1"/>
          <p:nvPr/>
        </p:nvSpPr>
        <p:spPr>
          <a:xfrm>
            <a:off x="822960" y="1554480"/>
            <a:ext cx="10515600" cy="1097280"/>
          </a:xfrm>
          <a:prstGeom prst="rect">
            <a:avLst/>
          </a:prstGeom>
          <a:noFill/>
        </p:spPr>
        <p:txBody>
          <a:bodyPr wrap="square" anchor="t" lIns="0" rIns="0" tIns="0" bIns="0">
            <a:spAutoFit/>
          </a:bodyPr>
          <a:lstStyle/>
          <a:p>
            <a:pPr algn="l"/>
            <a:r>
              <a:rPr sz="4400" b="1" i="0">
                <a:solidFill>
                  <a:srgbClr val="E8B84A"/>
                </a:solidFill>
                <a:latin typeface="Cambria"/>
              </a:rPr>
              <a:t>Essayez Siraj dans votre école</a:t>
            </a:r>
          </a:p>
        </p:txBody>
      </p:sp>
      <p:sp>
        <p:nvSpPr>
          <p:cNvPr id="3" name="TextBox 2"/>
          <p:cNvSpPr txBox="1"/>
          <p:nvPr/>
        </p:nvSpPr>
        <p:spPr>
          <a:xfrm>
            <a:off x="822960" y="2834640"/>
            <a:ext cx="10515600" cy="548640"/>
          </a:xfrm>
          <a:prstGeom prst="rect">
            <a:avLst/>
          </a:prstGeom>
          <a:noFill/>
        </p:spPr>
        <p:txBody>
          <a:bodyPr wrap="square" anchor="t" lIns="0" rIns="0" tIns="0" bIns="0">
            <a:spAutoFit/>
          </a:bodyPr>
          <a:lstStyle/>
          <a:p>
            <a:pPr algn="l"/>
            <a:r>
              <a:rPr sz="2200" b="0" i="0">
                <a:solidFill>
                  <a:srgbClr val="FFFFFF"/>
                </a:solidFill>
                <a:latin typeface="Calibri"/>
              </a:rPr>
              <a:t>Page d'accueil et demande d'essai : rayanem-dev.github.io/da3m-site</a:t>
            </a:r>
          </a:p>
        </p:txBody>
      </p:sp>
      <p:sp>
        <p:nvSpPr>
          <p:cNvPr id="4" name="TextBox 3"/>
          <p:cNvSpPr txBox="1"/>
          <p:nvPr/>
        </p:nvSpPr>
        <p:spPr>
          <a:xfrm>
            <a:off x="822960" y="3657600"/>
            <a:ext cx="10515600" cy="548640"/>
          </a:xfrm>
          <a:prstGeom prst="rect">
            <a:avLst/>
          </a:prstGeom>
          <a:noFill/>
        </p:spPr>
        <p:txBody>
          <a:bodyPr wrap="square" anchor="t" lIns="0" rIns="0" tIns="0" bIns="0">
            <a:spAutoFit/>
          </a:bodyPr>
          <a:lstStyle/>
          <a:p>
            <a:pPr algn="l"/>
            <a:r>
              <a:rPr sz="2000" b="0" i="0">
                <a:solidFill>
                  <a:srgbClr val="CADCFC"/>
                </a:solidFill>
                <a:latin typeface="Calibri"/>
              </a:rPr>
              <a:t>Rayane Redha Madani — Rayane M., éditeur de Siraj</a:t>
            </a:r>
          </a:p>
        </p:txBody>
      </p:sp>
      <p:sp>
        <p:nvSpPr>
          <p:cNvPr id="5" name="TextBox 4"/>
          <p:cNvSpPr txBox="1"/>
          <p:nvPr/>
        </p:nvSpPr>
        <p:spPr>
          <a:xfrm>
            <a:off x="822960" y="4297680"/>
            <a:ext cx="10515600" cy="548640"/>
          </a:xfrm>
          <a:prstGeom prst="rect">
            <a:avLst/>
          </a:prstGeom>
          <a:noFill/>
        </p:spPr>
        <p:txBody>
          <a:bodyPr wrap="square" anchor="t" lIns="0" rIns="0" tIns="0" bIns="0">
            <a:spAutoFit/>
          </a:bodyPr>
          <a:lstStyle/>
          <a:p>
            <a:pPr algn="l"/>
            <a:r>
              <a:rPr sz="2200" b="0" i="0">
                <a:solidFill>
                  <a:srgbClr val="FFFFFF"/>
                </a:solidFill>
                <a:latin typeface="Calibri"/>
              </a:rPr>
              <a:t>0670779792  ·  rayanem@gmail.com</a:t>
            </a:r>
          </a:p>
        </p:txBody>
      </p:sp>
      <p:sp>
        <p:nvSpPr>
          <p:cNvPr id="6" name="TextBox 5"/>
          <p:cNvSpPr txBox="1"/>
          <p:nvPr/>
        </p:nvSpPr>
        <p:spPr>
          <a:xfrm>
            <a:off x="822960" y="5212080"/>
            <a:ext cx="10515600" cy="548640"/>
          </a:xfrm>
          <a:prstGeom prst="rect">
            <a:avLst/>
          </a:prstGeom>
          <a:noFill/>
        </p:spPr>
        <p:txBody>
          <a:bodyPr wrap="square" anchor="t" lIns="0" rIns="0" tIns="0" bIns="0">
            <a:spAutoFit/>
          </a:bodyPr>
          <a:lstStyle/>
          <a:p>
            <a:pPr algn="l"/>
            <a:r>
              <a:rPr sz="2200" b="0" i="0">
                <a:solidFill>
                  <a:srgbClr val="E8B84A"/>
                </a:solidFill>
                <a:latin typeface="Calibri"/>
              </a:rPr>
              <a:t>سراج — إدارة ذكية وبسيطة لمدارس الدعم</a:t>
            </a:r>
          </a:p>
        </p:txBody>
      </p:sp>
      <p:sp>
        <p:nvSpPr>
          <p:cNvPr id="7" name="TextBox 6"/>
          <p:cNvSpPr txBox="1"/>
          <p:nvPr/>
        </p:nvSpPr>
        <p:spPr>
          <a:xfrm>
            <a:off x="640080" y="6446520"/>
            <a:ext cx="5486400" cy="274320"/>
          </a:xfrm>
          <a:prstGeom prst="rect">
            <a:avLst/>
          </a:prstGeom>
          <a:noFill/>
        </p:spPr>
        <p:txBody>
          <a:bodyPr wrap="square" anchor="t" lIns="0" rIns="0" tIns="0" bIns="0">
            <a:spAutoFit/>
          </a:bodyPr>
          <a:lstStyle/>
          <a:p>
            <a:pPr algn="l"/>
            <a:r>
              <a:rPr sz="1100" b="0" i="0">
                <a:solidFill>
                  <a:srgbClr val="9FB4FF"/>
                </a:solidFill>
                <a:latin typeface="Calibri"/>
              </a:rPr>
              <a:t>Siraj · سراج</a:t>
            </a:r>
          </a:p>
        </p:txBody>
      </p:sp>
      <p:sp>
        <p:nvSpPr>
          <p:cNvPr id="8" name="TextBox 7"/>
          <p:cNvSpPr txBox="1"/>
          <p:nvPr/>
        </p:nvSpPr>
        <p:spPr>
          <a:xfrm>
            <a:off x="10637215" y="6446520"/>
            <a:ext cx="914400" cy="274320"/>
          </a:xfrm>
          <a:prstGeom prst="rect">
            <a:avLst/>
          </a:prstGeom>
          <a:noFill/>
        </p:spPr>
        <p:txBody>
          <a:bodyPr wrap="square" anchor="t" lIns="0" rIns="0" tIns="0" bIns="0">
            <a:spAutoFit/>
          </a:bodyPr>
          <a:lstStyle/>
          <a:p>
            <a:pPr algn="r"/>
            <a:r>
              <a:rPr sz="1100" b="0" i="0">
                <a:solidFill>
                  <a:srgbClr val="9FB4FF"/>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