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عرض سراج على مديري مدارس الدعم (حوالي 12 دقيقة) مع عرض مباشر في النهاية.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اقتراح عرض مباشر على المدرسة التجريبية ثم فتح طلب التجربة مع المدير.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175" y="1371600"/>
            <a:ext cx="2194560" cy="2194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0255" y="1371600"/>
            <a:ext cx="7863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6100" b="1" i="0">
                <a:solidFill>
                  <a:srgbClr val="E8B84A"/>
                </a:solidFill>
                <a:latin typeface="Arial"/>
              </a:rPr>
              <a:t>SIRAJ  سراج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" y="2651760"/>
            <a:ext cx="7680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900" b="0" i="0">
                <a:solidFill>
                  <a:srgbClr val="FFFFFF"/>
                </a:solidFill>
                <a:latin typeface="Arial"/>
              </a:rPr>
              <a:t>تسيير مدرسة الدعم الخاصة بكم، بسهولة ووضوح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" y="416052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900" b="0" i="0">
                <a:solidFill>
                  <a:srgbClr val="CADCFC"/>
                </a:solidFill>
                <a:latin typeface="Arial"/>
              </a:rPr>
              <a:t>إدارة ذكية وبسيطة لمدارس الدعم : الدروس، الحصص، التلاميذ، المدفوعات، التقييم، والجداول الزمنية المشتركة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9FB4FF"/>
                </a:solidFill>
                <a:latin typeface="Arial"/>
              </a:rPr>
              <a:t>الدروس · التلاميذ · المدفوعات · التقييم · التقويم المشترك — بالعربية والفرنسية والإنجليزية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700" b="1" i="0">
                <a:solidFill>
                  <a:srgbClr val="0E1B40"/>
                </a:solidFill>
                <a:latin typeface="Arial"/>
              </a:rPr>
              <a:t>اليوم، يتم التسيير «يدوياً»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48095" y="160020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64647" y="1965960"/>
            <a:ext cx="566928" cy="56692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E1B4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19202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100" b="1" i="0">
                <a:solidFill>
                  <a:srgbClr val="0E1B40"/>
                </a:solidFill>
                <a:latin typeface="Arial"/>
              </a:rPr>
              <a:t>دفاتر وجداول إكسل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2415" y="246888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0" i="0">
                <a:solidFill>
                  <a:srgbClr val="6B7385"/>
                </a:solidFill>
                <a:latin typeface="Arial"/>
              </a:rPr>
              <a:t>حضور وتسجيلات مبعثرة يصعب العثور عليها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0255" y="160020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86807" y="1965960"/>
            <a:ext cx="566928" cy="56692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E1B4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575" y="19202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100" b="1" i="0">
                <a:solidFill>
                  <a:srgbClr val="0E1B40"/>
                </a:solidFill>
                <a:latin typeface="Arial"/>
              </a:rPr>
              <a:t>مدفوعات تُتابَع بالذاكرة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575" y="246888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0" i="0">
                <a:solidFill>
                  <a:srgbClr val="6B7385"/>
                </a:solidFill>
                <a:latin typeface="Arial"/>
              </a:rPr>
              <a:t>نسيان، ومتأخرات تُكتشف متأخراً، ووصولات بخط اليد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749039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64647" y="4114800"/>
            <a:ext cx="566928" cy="56692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E1B40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4069079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100" b="1" i="0">
                <a:solidFill>
                  <a:srgbClr val="0E1B40"/>
                </a:solidFill>
                <a:latin typeface="Arial"/>
              </a:rPr>
              <a:t>رسائل واتساب في كل مكان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415" y="461772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0" i="0">
                <a:solidFill>
                  <a:srgbClr val="6B7385"/>
                </a:solidFill>
                <a:latin typeface="Arial"/>
              </a:rPr>
              <a:t>تغييرات المواعيد تضيع في المجموعات والأولياء غير مطلعين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0255" y="3749039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86807" y="4114800"/>
            <a:ext cx="566928" cy="56692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E1B40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575" y="4069079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100" b="1" i="0">
                <a:solidFill>
                  <a:srgbClr val="0E1B40"/>
                </a:solidFill>
                <a:latin typeface="Arial"/>
              </a:rPr>
              <a:t>رؤية ضعيفة للحسابات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575" y="461772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0" i="0">
                <a:solidFill>
                  <a:srgbClr val="6B7385"/>
                </a:solidFill>
                <a:latin typeface="Arial"/>
              </a:rPr>
              <a:t>كم حُصِّل؟ كم بقي؟ كم يستحق كل أستاذ؟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0" i="0">
                <a:solidFill>
                  <a:srgbClr val="1F3470"/>
                </a:solidFill>
                <a:latin typeface="Arial"/>
              </a:rPr>
              <a:t>النتيجة: وقت ضائع، ومتأخرات، وأولياء يشعرون بنقص المعلومات.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B7385"/>
                </a:solidFill>
                <a:latin typeface="Arial"/>
              </a:rPr>
              <a:t>Siraj · سراج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B738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700" b="1" i="0">
                <a:solidFill>
                  <a:srgbClr val="0E1B40"/>
                </a:solidFill>
                <a:latin typeface="Arial"/>
              </a:rPr>
              <a:t>سراج: فضاء واحد لكل المدرسة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45575" y="164592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0559" y="1920240"/>
            <a:ext cx="566928" cy="566928"/>
          </a:xfrm>
          <a:prstGeom prst="ellipse">
            <a:avLst/>
          </a:prstGeom>
          <a:solidFill>
            <a:srgbClr val="0E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E8B84A"/>
                </a:solidFill>
                <a:latin typeface="Arial"/>
              </a:rPr>
              <a:t>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8455" y="2743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2100" b="1" i="0">
                <a:solidFill>
                  <a:srgbClr val="0E1B40"/>
                </a:solidFill>
                <a:latin typeface="Arial"/>
              </a:rPr>
              <a:t>المدير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4175" y="32918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1600" b="0" i="0">
                <a:solidFill>
                  <a:srgbClr val="6B7385"/>
                </a:solidFill>
                <a:latin typeface="Arial"/>
              </a:rPr>
              <a:t>يقود المدرسة: التلاميذ والأفواج والحسابات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6655" y="164592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71639" y="1920240"/>
            <a:ext cx="566928" cy="566928"/>
          </a:xfrm>
          <a:prstGeom prst="ellipse">
            <a:avLst/>
          </a:prstGeom>
          <a:solidFill>
            <a:srgbClr val="0E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E8B84A"/>
                </a:solidFill>
                <a:latin typeface="Arial"/>
              </a:rPr>
              <a:t>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9535" y="2743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2100" b="1" i="0">
                <a:solidFill>
                  <a:srgbClr val="0E1B40"/>
                </a:solidFill>
                <a:latin typeface="Arial"/>
              </a:rPr>
              <a:t>السكرتيرة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5255" y="32918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1600" b="0" i="0">
                <a:solidFill>
                  <a:srgbClr val="6B7385"/>
                </a:solidFill>
                <a:latin typeface="Arial"/>
              </a:rPr>
              <a:t>تسجّل وتحصّل وتأخذ الحضور — بالصلاحيات التي تحددونها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7735" y="164592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2719" y="1920240"/>
            <a:ext cx="566928" cy="566928"/>
          </a:xfrm>
          <a:prstGeom prst="ellipse">
            <a:avLst/>
          </a:prstGeom>
          <a:solidFill>
            <a:srgbClr val="0E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E8B84A"/>
                </a:solidFill>
                <a:latin typeface="Arial"/>
              </a:rPr>
              <a:t>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615" y="2743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2100" b="1" i="0">
                <a:solidFill>
                  <a:srgbClr val="0E1B40"/>
                </a:solidFill>
                <a:latin typeface="Arial"/>
              </a:rPr>
              <a:t>الأستاذ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6335" y="32918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1600" b="0" i="0">
                <a:solidFill>
                  <a:srgbClr val="6B7385"/>
                </a:solidFill>
                <a:latin typeface="Arial"/>
              </a:rPr>
              <a:t>يرى أفواجه وينشر دروسه ويتابع مداخيله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8815" y="164592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3799" y="1920240"/>
            <a:ext cx="566928" cy="566928"/>
          </a:xfrm>
          <a:prstGeom prst="ellipse">
            <a:avLst/>
          </a:prstGeom>
          <a:solidFill>
            <a:srgbClr val="0E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E8B84A"/>
                </a:solidFill>
                <a:latin typeface="Arial"/>
              </a:rPr>
              <a:t>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" y="2743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2100" b="1" i="0">
                <a:solidFill>
                  <a:srgbClr val="0E1B40"/>
                </a:solidFill>
                <a:latin typeface="Arial"/>
              </a:rPr>
              <a:t>الوليّ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" y="32918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1600" b="0" i="0">
                <a:solidFill>
                  <a:srgbClr val="6B7385"/>
                </a:solidFill>
                <a:latin typeface="Arial"/>
              </a:rPr>
              <a:t>يتابع الحضور والمدفوعات والنتائج من هاتفه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" y="5257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0" i="0">
                <a:solidFill>
                  <a:srgbClr val="1B2233"/>
                </a:solidFill>
                <a:latin typeface="Arial"/>
              </a:rPr>
              <a:t>يدخل كل شخص بحسابه ولا يرى إلا ما يخصّه. تقويم مشترك واحد، وإشعارات تلقائية، وتبقى بياناتكم في ملف مدرستكم.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B7385"/>
                </a:solidFill>
                <a:latin typeface="Arial"/>
              </a:rPr>
              <a:t>Siraj · سراج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B738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700" b="1" i="0">
                <a:solidFill>
                  <a:srgbClr val="0E1B40"/>
                </a:solidFill>
                <a:latin typeface="Arial"/>
              </a:rPr>
              <a:t>المدير يقود كل شيء من الصفحة الرئيسية</a:t>
            </a:r>
          </a:p>
        </p:txBody>
      </p:sp>
      <p:pic>
        <p:nvPicPr>
          <p:cNvPr id="3" name="Picture 2" descr="10-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175" y="1554480"/>
            <a:ext cx="6949440" cy="4343400"/>
          </a:xfrm>
          <a:prstGeom prst="rect">
            <a:avLst/>
          </a:prstGeom>
          <a:ln w="9525">
            <a:solidFill>
              <a:srgbClr val="D9D3C0"/>
            </a:solidFill>
          </a:ln>
        </p:spPr>
      </p:pic>
      <p:sp>
        <p:nvSpPr>
          <p:cNvPr id="4" name="Oval 3"/>
          <p:cNvSpPr/>
          <p:nvPr/>
        </p:nvSpPr>
        <p:spPr>
          <a:xfrm>
            <a:off x="3852367" y="1691640"/>
            <a:ext cx="384048" cy="38404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40"/>
                </a:solidFill>
                <a:latin typeface="Arial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935" y="1673352"/>
            <a:ext cx="3273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0E1B40"/>
                </a:solidFill>
                <a:latin typeface="Arial"/>
              </a:rPr>
              <a:t>أرقام أساسية بنظرة واحدة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935" y="1965960"/>
            <a:ext cx="3273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B7385"/>
                </a:solidFill>
                <a:latin typeface="Arial"/>
              </a:rPr>
              <a:t>التلاميذ والأفواج والمحصَّل والتأخرات</a:t>
            </a:r>
          </a:p>
        </p:txBody>
      </p:sp>
      <p:sp>
        <p:nvSpPr>
          <p:cNvPr id="7" name="Oval 6"/>
          <p:cNvSpPr/>
          <p:nvPr/>
        </p:nvSpPr>
        <p:spPr>
          <a:xfrm>
            <a:off x="3852367" y="2697480"/>
            <a:ext cx="384048" cy="38404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40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" y="2679192"/>
            <a:ext cx="3273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0E1B40"/>
                </a:solidFill>
                <a:latin typeface="Arial"/>
              </a:rPr>
              <a:t>تنبيهات مفيدة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" y="2971800"/>
            <a:ext cx="3273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B7385"/>
                </a:solidFill>
                <a:latin typeface="Arial"/>
              </a:rPr>
              <a:t>حصص بلا حضور، متأخرات، حسابات للتفعيل</a:t>
            </a:r>
          </a:p>
        </p:txBody>
      </p:sp>
      <p:sp>
        <p:nvSpPr>
          <p:cNvPr id="10" name="Oval 9"/>
          <p:cNvSpPr/>
          <p:nvPr/>
        </p:nvSpPr>
        <p:spPr>
          <a:xfrm>
            <a:off x="3852367" y="3703320"/>
            <a:ext cx="384048" cy="38404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40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935" y="3685032"/>
            <a:ext cx="3273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0E1B40"/>
                </a:solidFill>
                <a:latin typeface="Arial"/>
              </a:rPr>
              <a:t>تذكير بضغطة واحدة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" y="3977640"/>
            <a:ext cx="3273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B7385"/>
                </a:solidFill>
                <a:latin typeface="Arial"/>
              </a:rPr>
              <a:t>تذكير الأولياء المتأخرين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B7385"/>
                </a:solidFill>
                <a:latin typeface="Arial"/>
              </a:rPr>
              <a:t>Siraj · سراج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B738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700" b="1" i="0">
                <a:solidFill>
                  <a:srgbClr val="0E1B40"/>
                </a:solidFill>
                <a:latin typeface="Arial"/>
              </a:rPr>
              <a:t>تقويم مشترك وتسجيل حضور سريع</a:t>
            </a:r>
          </a:p>
        </p:txBody>
      </p:sp>
      <p:pic>
        <p:nvPicPr>
          <p:cNvPr id="3" name="Picture 2" descr="11-calendrier-sema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415" y="1463040"/>
            <a:ext cx="5029200" cy="3143250"/>
          </a:xfrm>
          <a:prstGeom prst="rect">
            <a:avLst/>
          </a:prstGeom>
          <a:ln w="9525">
            <a:solidFill>
              <a:srgbClr val="D9D3C0"/>
            </a:solidFill>
          </a:ln>
        </p:spPr>
      </p:pic>
      <p:pic>
        <p:nvPicPr>
          <p:cNvPr id="4" name="Picture 3" descr="13-app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" y="1463040"/>
            <a:ext cx="5029200" cy="3143250"/>
          </a:xfrm>
          <a:prstGeom prst="rect">
            <a:avLst/>
          </a:prstGeom>
          <a:ln w="9525">
            <a:solidFill>
              <a:srgbClr val="D9D3C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156655" y="484632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600" b="0" i="0">
                <a:solidFill>
                  <a:srgbClr val="1B2233"/>
                </a:solidFill>
                <a:latin typeface="Arial"/>
              </a:rPr>
              <a:t>أسبوع يبدأ يوم الأحد</a:t>
            </a:r>
          </a:p>
          <a:p>
            <a:pPr rtl="1" algn="r">
              <a:spcBef>
                <a:spcPts val="675"/>
              </a:spcBef>
            </a:pPr>
            <a:r>
              <a:rPr sz="1600" b="0" i="0">
                <a:solidFill>
                  <a:srgbClr val="1B2233"/>
                </a:solidFill>
                <a:latin typeface="Arial"/>
              </a:rPr>
              <a:t>نقل أو إلغاء حصة: يُبلَّغ الأولياء والأساتذة فوراً</a:t>
            </a:r>
          </a:p>
          <a:p>
            <a:pPr rtl="1" algn="r">
              <a:spcBef>
                <a:spcPts val="675"/>
              </a:spcBef>
            </a:pPr>
            <a:r>
              <a:rPr sz="1600" b="0" i="0">
                <a:solidFill>
                  <a:srgbClr val="1B2233"/>
                </a:solidFill>
                <a:latin typeface="Arial"/>
              </a:rPr>
              <a:t>أجندة قابلة للإضافة إلى الهاتف مع تنبيه قبل ساعة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375" y="484632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600" b="0" i="0">
                <a:solidFill>
                  <a:srgbClr val="1B2233"/>
                </a:solidFill>
                <a:latin typeface="Arial"/>
              </a:rPr>
              <a:t>حاضر، غائب، متأخر، مبرَّر: «الكل حاضر» بضغطة</a:t>
            </a:r>
          </a:p>
          <a:p>
            <a:pPr rtl="1" algn="r">
              <a:spcBef>
                <a:spcPts val="675"/>
              </a:spcBef>
            </a:pPr>
            <a:r>
              <a:rPr sz="1600" b="0" i="0">
                <a:solidFill>
                  <a:srgbClr val="1B2233"/>
                </a:solidFill>
                <a:latin typeface="Arial"/>
              </a:rPr>
              <a:t>الغياب المبرَّر: رصيد ممكن في الدورة التالية</a:t>
            </a:r>
          </a:p>
          <a:p>
            <a:pPr rtl="1" algn="r">
              <a:spcBef>
                <a:spcPts val="675"/>
              </a:spcBef>
            </a:pPr>
            <a:r>
              <a:rPr sz="1600" b="0" i="0">
                <a:solidFill>
                  <a:srgbClr val="1B2233"/>
                </a:solidFill>
                <a:latin typeface="Arial"/>
              </a:rPr>
              <a:t>تذكير قبل يوم وقبل ساعة من كل حصة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B7385"/>
                </a:solidFill>
                <a:latin typeface="Arial"/>
              </a:rPr>
              <a:t>Siraj · سراج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B738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700" b="1" i="0">
                <a:solidFill>
                  <a:srgbClr val="0E1B40"/>
                </a:solidFill>
                <a:latin typeface="Arial"/>
              </a:rPr>
              <a:t>مدفوعات مضبوطة ووصولات تلقائية</a:t>
            </a:r>
          </a:p>
        </p:txBody>
      </p:sp>
      <p:pic>
        <p:nvPicPr>
          <p:cNvPr id="3" name="Picture 2" descr="40-pai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735" y="1463040"/>
            <a:ext cx="4754880" cy="2971800"/>
          </a:xfrm>
          <a:prstGeom prst="rect">
            <a:avLst/>
          </a:prstGeom>
          <a:ln w="9525">
            <a:solidFill>
              <a:srgbClr val="D9D3C0"/>
            </a:solidFill>
          </a:ln>
        </p:spPr>
      </p:pic>
      <p:pic>
        <p:nvPicPr>
          <p:cNvPr id="4" name="Picture 3" descr="27-rec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" y="1463040"/>
            <a:ext cx="4754880" cy="2971800"/>
          </a:xfrm>
          <a:prstGeom prst="rect">
            <a:avLst/>
          </a:prstGeom>
          <a:ln w="9525">
            <a:solidFill>
              <a:srgbClr val="D9D3C0"/>
            </a:solidFill>
          </a:ln>
        </p:spPr>
      </p:pic>
      <p:sp>
        <p:nvSpPr>
          <p:cNvPr id="5" name="Oval 4"/>
          <p:cNvSpPr/>
          <p:nvPr/>
        </p:nvSpPr>
        <p:spPr>
          <a:xfrm>
            <a:off x="11167567" y="4892040"/>
            <a:ext cx="384048" cy="38404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40"/>
                </a:solidFill>
                <a:latin typeface="Aria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90895" y="4873752"/>
            <a:ext cx="5193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1" i="0">
                <a:solidFill>
                  <a:srgbClr val="0E1B40"/>
                </a:solidFill>
                <a:latin typeface="Arial"/>
              </a:rPr>
              <a:t>دورات من N حصة، ونسبي لمن ينضم في المنتصف</a:t>
            </a:r>
          </a:p>
        </p:txBody>
      </p:sp>
      <p:sp>
        <p:nvSpPr>
          <p:cNvPr id="7" name="Oval 6"/>
          <p:cNvSpPr/>
          <p:nvPr/>
        </p:nvSpPr>
        <p:spPr>
          <a:xfrm>
            <a:off x="11167567" y="5327294"/>
            <a:ext cx="384048" cy="38404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40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0895" y="5309006"/>
            <a:ext cx="5193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1" i="0">
                <a:solidFill>
                  <a:srgbClr val="0E1B40"/>
                </a:solidFill>
                <a:latin typeface="Arial"/>
              </a:rPr>
              <a:t>الدفع الجزئي مقبول، وأرصدة الغياب</a:t>
            </a:r>
          </a:p>
        </p:txBody>
      </p:sp>
      <p:sp>
        <p:nvSpPr>
          <p:cNvPr id="9" name="Oval 8"/>
          <p:cNvSpPr/>
          <p:nvPr/>
        </p:nvSpPr>
        <p:spPr>
          <a:xfrm>
            <a:off x="11167567" y="5762548"/>
            <a:ext cx="384048" cy="38404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40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0895" y="5744260"/>
            <a:ext cx="5193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1" i="0">
                <a:solidFill>
                  <a:srgbClr val="0E1B40"/>
                </a:solidFill>
                <a:latin typeface="Arial"/>
              </a:rPr>
              <a:t>تذكيرات تلقائية قبل الاستحقاق وبعده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" y="489204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0" i="0">
                <a:solidFill>
                  <a:srgbClr val="1B2233"/>
                </a:solidFill>
                <a:latin typeface="Arial"/>
              </a:rPr>
              <a:t>وصولات مرقَّمة R-AAAA-NNNN، قابلة للطباعة أو بصيغة PDF، ويراها الوليّ أيضاً.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B7385"/>
                </a:solidFill>
                <a:latin typeface="Arial"/>
              </a:rPr>
              <a:t>Siraj · سراج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B738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700" b="1" i="0">
                <a:solidFill>
                  <a:srgbClr val="0E1B40"/>
                </a:solidFill>
                <a:latin typeface="Arial"/>
              </a:rPr>
              <a:t>محاسبة واضحة شهراً بشهر</a:t>
            </a:r>
          </a:p>
        </p:txBody>
      </p:sp>
      <p:pic>
        <p:nvPicPr>
          <p:cNvPr id="3" name="Picture 2" descr="41-comptabil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175" y="1554480"/>
            <a:ext cx="6949440" cy="4343400"/>
          </a:xfrm>
          <a:prstGeom prst="rect">
            <a:avLst/>
          </a:prstGeom>
          <a:ln w="9525">
            <a:solidFill>
              <a:srgbClr val="D9D3C0"/>
            </a:solidFill>
          </a:ln>
        </p:spPr>
      </p:pic>
      <p:sp>
        <p:nvSpPr>
          <p:cNvPr id="4" name="Oval 3"/>
          <p:cNvSpPr/>
          <p:nvPr/>
        </p:nvSpPr>
        <p:spPr>
          <a:xfrm>
            <a:off x="3852367" y="1691640"/>
            <a:ext cx="384048" cy="38404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40"/>
                </a:solidFill>
                <a:latin typeface="Arial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935" y="1673352"/>
            <a:ext cx="3273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0E1B40"/>
                </a:solidFill>
                <a:latin typeface="Arial"/>
              </a:rPr>
              <a:t>المحصَّل والمصاريف والنتيجة</a:t>
            </a:r>
          </a:p>
        </p:txBody>
      </p:sp>
      <p:sp>
        <p:nvSpPr>
          <p:cNvPr id="6" name="Oval 5"/>
          <p:cNvSpPr/>
          <p:nvPr/>
        </p:nvSpPr>
        <p:spPr>
          <a:xfrm>
            <a:off x="3852367" y="2560320"/>
            <a:ext cx="384048" cy="38404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40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935" y="2542032"/>
            <a:ext cx="3273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0E1B40"/>
                </a:solidFill>
                <a:latin typeface="Arial"/>
              </a:rPr>
              <a:t>أجور الأساتذة محسوبة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" y="2834639"/>
            <a:ext cx="3273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B7385"/>
                </a:solidFill>
                <a:latin typeface="Arial"/>
              </a:rPr>
              <a:t>بالساعة أو جزافي أو ثابت أو %</a:t>
            </a:r>
          </a:p>
        </p:txBody>
      </p:sp>
      <p:sp>
        <p:nvSpPr>
          <p:cNvPr id="9" name="Oval 8"/>
          <p:cNvSpPr/>
          <p:nvPr/>
        </p:nvSpPr>
        <p:spPr>
          <a:xfrm>
            <a:off x="3852367" y="3168396"/>
            <a:ext cx="384048" cy="38404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40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935" y="3150108"/>
            <a:ext cx="3273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0E1B40"/>
                </a:solidFill>
                <a:latin typeface="Arial"/>
              </a:rPr>
              <a:t>توزيع حسب الطريقة والفوج</a:t>
            </a:r>
          </a:p>
        </p:txBody>
      </p:sp>
      <p:sp>
        <p:nvSpPr>
          <p:cNvPr id="11" name="Oval 10"/>
          <p:cNvSpPr/>
          <p:nvPr/>
        </p:nvSpPr>
        <p:spPr>
          <a:xfrm>
            <a:off x="3852367" y="3776472"/>
            <a:ext cx="384048" cy="38404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40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" y="3758184"/>
            <a:ext cx="3273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0E1B40"/>
                </a:solidFill>
                <a:latin typeface="Arial"/>
              </a:rPr>
              <a:t>تصدير بياناتكم بصيغة 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B7385"/>
                </a:solidFill>
                <a:latin typeface="Arial"/>
              </a:rPr>
              <a:t>Siraj · سراج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B738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700" b="1" i="0">
                <a:solidFill>
                  <a:srgbClr val="0E1B40"/>
                </a:solidFill>
                <a:latin typeface="Arial"/>
              </a:rPr>
              <a:t>الأساتذة: الأفواج والدروس والمداخيل</a:t>
            </a:r>
          </a:p>
        </p:txBody>
      </p:sp>
      <p:pic>
        <p:nvPicPr>
          <p:cNvPr id="3" name="Picture 2" descr="84-prof-grou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575" y="1463040"/>
            <a:ext cx="2197160" cy="4754880"/>
          </a:xfrm>
          <a:prstGeom prst="rect">
            <a:avLst/>
          </a:prstGeom>
          <a:ln w="9525">
            <a:solidFill>
              <a:srgbClr val="D9D3C0"/>
            </a:solidFill>
          </a:ln>
        </p:spPr>
      </p:pic>
      <p:pic>
        <p:nvPicPr>
          <p:cNvPr id="4" name="Picture 3" descr="82-prof-reven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615" y="1463040"/>
            <a:ext cx="2197160" cy="4754880"/>
          </a:xfrm>
          <a:prstGeom prst="rect">
            <a:avLst/>
          </a:prstGeom>
          <a:ln w="9525">
            <a:solidFill>
              <a:srgbClr val="D9D3C0"/>
            </a:solidFill>
          </a:ln>
        </p:spPr>
      </p:pic>
      <p:sp>
        <p:nvSpPr>
          <p:cNvPr id="5" name="Oval 4"/>
          <p:cNvSpPr/>
          <p:nvPr/>
        </p:nvSpPr>
        <p:spPr>
          <a:xfrm>
            <a:off x="4583887" y="1737360"/>
            <a:ext cx="384048" cy="38404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40"/>
                </a:solidFill>
                <a:latin typeface="Aria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935" y="1719072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1" i="0">
                <a:solidFill>
                  <a:srgbClr val="0E1B40"/>
                </a:solidFill>
                <a:latin typeface="Arial"/>
              </a:rPr>
              <a:t>الحضور والتقويم على الهاتف</a:t>
            </a:r>
          </a:p>
        </p:txBody>
      </p:sp>
      <p:sp>
        <p:nvSpPr>
          <p:cNvPr id="7" name="Oval 6"/>
          <p:cNvSpPr/>
          <p:nvPr/>
        </p:nvSpPr>
        <p:spPr>
          <a:xfrm>
            <a:off x="4583887" y="2377439"/>
            <a:ext cx="384048" cy="38404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40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" y="2359151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1" i="0">
                <a:solidFill>
                  <a:srgbClr val="0E1B40"/>
                </a:solidFill>
                <a:latin typeface="Arial"/>
              </a:rPr>
              <a:t>نشر الدروس والتمارين للتلاميذ</a:t>
            </a:r>
          </a:p>
        </p:txBody>
      </p:sp>
      <p:sp>
        <p:nvSpPr>
          <p:cNvPr id="9" name="Oval 8"/>
          <p:cNvSpPr/>
          <p:nvPr/>
        </p:nvSpPr>
        <p:spPr>
          <a:xfrm>
            <a:off x="4583887" y="3017520"/>
            <a:ext cx="384048" cy="38404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40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935" y="2999232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1" i="0">
                <a:solidFill>
                  <a:srgbClr val="0E1B40"/>
                </a:solidFill>
                <a:latin typeface="Arial"/>
              </a:rPr>
              <a:t>نقاط الفروض والمتابعة الشهرية للأولياء</a:t>
            </a:r>
          </a:p>
        </p:txBody>
      </p:sp>
      <p:sp>
        <p:nvSpPr>
          <p:cNvPr id="11" name="Oval 10"/>
          <p:cNvSpPr/>
          <p:nvPr/>
        </p:nvSpPr>
        <p:spPr>
          <a:xfrm>
            <a:off x="4583887" y="3657600"/>
            <a:ext cx="384048" cy="38404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40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" y="3639312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1" i="0">
                <a:solidFill>
                  <a:srgbClr val="0E1B40"/>
                </a:solidFill>
                <a:latin typeface="Arial"/>
              </a:rPr>
              <a:t>مداخيل مجمّعة إن كان الأستاذ يدرّس في عدة مدارس على سراج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B7385"/>
                </a:solidFill>
                <a:latin typeface="Arial"/>
              </a:rPr>
              <a:t>Siraj · سراج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B7385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700" b="1" i="0">
                <a:solidFill>
                  <a:srgbClr val="0E1B40"/>
                </a:solidFill>
                <a:latin typeface="Arial"/>
              </a:rPr>
              <a:t>الأولياء على اطلاع دون الجري وراء المدرسة</a:t>
            </a:r>
          </a:p>
        </p:txBody>
      </p:sp>
      <p:pic>
        <p:nvPicPr>
          <p:cNvPr id="3" name="Picture 2" descr="90-parent-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575" y="1463040"/>
            <a:ext cx="2197160" cy="4754880"/>
          </a:xfrm>
          <a:prstGeom prst="rect">
            <a:avLst/>
          </a:prstGeom>
          <a:ln w="9525">
            <a:solidFill>
              <a:srgbClr val="D9D3C0"/>
            </a:solidFill>
          </a:ln>
        </p:spPr>
      </p:pic>
      <p:pic>
        <p:nvPicPr>
          <p:cNvPr id="4" name="Picture 3" descr="94-parent-suiv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615" y="1463040"/>
            <a:ext cx="2197160" cy="4754880"/>
          </a:xfrm>
          <a:prstGeom prst="rect">
            <a:avLst/>
          </a:prstGeom>
          <a:ln w="9525">
            <a:solidFill>
              <a:srgbClr val="D9D3C0"/>
            </a:solidFill>
          </a:ln>
        </p:spPr>
      </p:pic>
      <p:sp>
        <p:nvSpPr>
          <p:cNvPr id="5" name="Oval 4"/>
          <p:cNvSpPr/>
          <p:nvPr/>
        </p:nvSpPr>
        <p:spPr>
          <a:xfrm>
            <a:off x="4583887" y="1737360"/>
            <a:ext cx="384048" cy="38404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40"/>
                </a:solidFill>
                <a:latin typeface="Aria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935" y="1719072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1" i="0">
                <a:solidFill>
                  <a:srgbClr val="0E1B40"/>
                </a:solidFill>
                <a:latin typeface="Arial"/>
              </a:rPr>
              <a:t>المدفوعات: المدفوع والمتبقي والأجل</a:t>
            </a:r>
          </a:p>
        </p:txBody>
      </p:sp>
      <p:sp>
        <p:nvSpPr>
          <p:cNvPr id="7" name="Oval 6"/>
          <p:cNvSpPr/>
          <p:nvPr/>
        </p:nvSpPr>
        <p:spPr>
          <a:xfrm>
            <a:off x="4583887" y="2377439"/>
            <a:ext cx="384048" cy="38404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40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" y="2359151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1" i="0">
                <a:solidFill>
                  <a:srgbClr val="0E1B40"/>
                </a:solidFill>
                <a:latin typeface="Arial"/>
              </a:rPr>
              <a:t>تقويم كل ابن مع إشعارات التغييرات</a:t>
            </a:r>
          </a:p>
        </p:txBody>
      </p:sp>
      <p:sp>
        <p:nvSpPr>
          <p:cNvPr id="9" name="Oval 8"/>
          <p:cNvSpPr/>
          <p:nvPr/>
        </p:nvSpPr>
        <p:spPr>
          <a:xfrm>
            <a:off x="4583887" y="3017520"/>
            <a:ext cx="384048" cy="38404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40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935" y="2999232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1" i="0">
                <a:solidFill>
                  <a:srgbClr val="0E1B40"/>
                </a:solidFill>
                <a:latin typeface="Arial"/>
              </a:rPr>
              <a:t>التقييمات الشهرية ونقاط الفروض</a:t>
            </a:r>
          </a:p>
        </p:txBody>
      </p:sp>
      <p:sp>
        <p:nvSpPr>
          <p:cNvPr id="11" name="Oval 10"/>
          <p:cNvSpPr/>
          <p:nvPr/>
        </p:nvSpPr>
        <p:spPr>
          <a:xfrm>
            <a:off x="4583887" y="3657600"/>
            <a:ext cx="384048" cy="384048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40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" y="3639312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1" i="0">
                <a:solidFill>
                  <a:srgbClr val="0E1B40"/>
                </a:solidFill>
                <a:latin typeface="Arial"/>
              </a:rPr>
              <a:t>رسائل مباشرة مع المدرسة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B7385"/>
                </a:solidFill>
                <a:latin typeface="Arial"/>
              </a:rPr>
              <a:t>Siraj · سراج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B738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700" b="1" i="0">
                <a:solidFill>
                  <a:srgbClr val="FFFFFF"/>
                </a:solidFill>
                <a:latin typeface="Arial"/>
              </a:rPr>
              <a:t>العربية والفرنسية والإنجليزية — على كل الشاشات</a:t>
            </a:r>
          </a:p>
        </p:txBody>
      </p:sp>
      <p:pic>
        <p:nvPicPr>
          <p:cNvPr id="3" name="Picture 2" descr="10-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415" y="1463040"/>
            <a:ext cx="5029200" cy="3143250"/>
          </a:xfrm>
          <a:prstGeom prst="rect">
            <a:avLst/>
          </a:prstGeom>
          <a:ln w="9525">
            <a:solidFill>
              <a:srgbClr val="D9D3C0"/>
            </a:solidFill>
          </a:ln>
        </p:spPr>
      </p:pic>
      <p:pic>
        <p:nvPicPr>
          <p:cNvPr id="4" name="Picture 3" descr="72-mode-somb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" y="1463040"/>
            <a:ext cx="5029200" cy="3143250"/>
          </a:xfrm>
          <a:prstGeom prst="rect">
            <a:avLst/>
          </a:prstGeom>
          <a:ln w="9525">
            <a:solidFill>
              <a:srgbClr val="D9D3C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248095" y="4892040"/>
            <a:ext cx="5303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0" i="0">
                <a:solidFill>
                  <a:srgbClr val="FFFFFF"/>
                </a:solidFill>
                <a:latin typeface="Arial"/>
              </a:rPr>
              <a:t>عربية من اليمين إلى اليسار، وإشعارات ورسائل بريد بلغة كل شخص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8815" y="4892040"/>
            <a:ext cx="5303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0" i="0">
                <a:solidFill>
                  <a:srgbClr val="FFFFFF"/>
                </a:solidFill>
                <a:latin typeface="Arial"/>
              </a:rPr>
              <a:t>وضع فاتح أو داكن بألوان المدرسة، ويُثبَّت كتطبيق على الهاتف والحاسوب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9FB4FF"/>
                </a:solidFill>
                <a:latin typeface="Arial"/>
              </a:rPr>
              <a:t>Siraj · سراج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9FB4FF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700" b="1" i="0">
                <a:solidFill>
                  <a:srgbClr val="0E1B40"/>
                </a:solidFill>
                <a:latin typeface="Arial"/>
              </a:rPr>
              <a:t>بياناتكم ومسؤولياتكم محمية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31175" y="16002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59775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900" b="1" i="0">
                <a:solidFill>
                  <a:srgbClr val="0E1B40"/>
                </a:solidFill>
                <a:latin typeface="Arial"/>
              </a:rPr>
              <a:t>ملف خاص بكل مدرسة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246888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B7385"/>
                </a:solidFill>
                <a:latin typeface="Arial"/>
              </a:rPr>
              <a:t>لا اختلاط للبيانات بين المدارس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7855" y="16002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6455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900" b="1" i="0">
                <a:solidFill>
                  <a:srgbClr val="0E1B40"/>
                </a:solidFill>
                <a:latin typeface="Arial"/>
              </a:rPr>
              <a:t>صلاحيات حسب الصفة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6455" y="246888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B7385"/>
                </a:solidFill>
                <a:latin typeface="Arial"/>
              </a:rPr>
              <a:t>كل شخص يرى مجاله فقط، والسكرتيرة لها الصلاحيات الممنوحة فقط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" y="16002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135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900" b="1" i="0">
                <a:solidFill>
                  <a:srgbClr val="0E1B40"/>
                </a:solidFill>
                <a:latin typeface="Arial"/>
              </a:rPr>
              <a:t>شروط الاستخدام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135" y="246888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B7385"/>
                </a:solidFill>
                <a:latin typeface="Arial"/>
              </a:rPr>
              <a:t>موافقة إلزامية عند فتح الحساب، بثلاث لغات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1175" y="3840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9775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900" b="1" i="0">
                <a:solidFill>
                  <a:srgbClr val="0E1B40"/>
                </a:solidFill>
                <a:latin typeface="Arial"/>
              </a:rPr>
              <a:t>موافقة الوليّ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9775" y="470916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B7385"/>
                </a:solidFill>
                <a:latin typeface="Arial"/>
              </a:rPr>
              <a:t>مسجَّلة في ملف كل تلميذ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7855" y="3840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6455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900" b="1" i="0">
                <a:solidFill>
                  <a:srgbClr val="0E1B40"/>
                </a:solidFill>
                <a:latin typeface="Arial"/>
              </a:rPr>
              <a:t>رخصة متابَعة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6455" y="470916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B7385"/>
                </a:solidFill>
                <a:latin typeface="Arial"/>
              </a:rPr>
              <a:t>تجربة أو اشتراك أو شراء لمرة واحدة، ودعم عن بعد بوضع المسيّر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" y="3840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900" b="1" i="0">
                <a:solidFill>
                  <a:srgbClr val="0E1B40"/>
                </a:solidFill>
                <a:latin typeface="Arial"/>
              </a:rPr>
              <a:t>بيانات قابلة للتصدير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" y="470916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B7385"/>
                </a:solidFill>
                <a:latin typeface="Arial"/>
              </a:rPr>
              <a:t>بياناتكم بصيغة CSV في أي وقت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B7385"/>
                </a:solidFill>
                <a:latin typeface="Arial"/>
              </a:rPr>
              <a:t>Siraj · سراج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B7385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700" b="1" i="0">
                <a:solidFill>
                  <a:srgbClr val="0E1B40"/>
                </a:solidFill>
                <a:latin typeface="Arial"/>
              </a:rPr>
              <a:t>ابدؤوا في ثلاث خطوات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31175" y="1645920"/>
            <a:ext cx="352044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1920240"/>
            <a:ext cx="640080" cy="640080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0E1B4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274320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100" b="1" i="0">
                <a:solidFill>
                  <a:srgbClr val="0E1B40"/>
                </a:solidFill>
                <a:latin typeface="Arial"/>
              </a:rPr>
              <a:t>اطلبوا تجربتكم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9775" y="347472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B7385"/>
                </a:solidFill>
                <a:latin typeface="Arial"/>
              </a:rPr>
              <a:t>استمارة في الصفحة الرئيسية لسراج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2135" y="1645920"/>
            <a:ext cx="352044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88175" y="1920240"/>
            <a:ext cx="640080" cy="640080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0E1B4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0735" y="274320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100" b="1" i="0">
                <a:solidFill>
                  <a:srgbClr val="0E1B40"/>
                </a:solidFill>
                <a:latin typeface="Arial"/>
              </a:rPr>
              <a:t>ننشئ مدرستكم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0735" y="347472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B7385"/>
                </a:solidFill>
                <a:latin typeface="Arial"/>
              </a:rPr>
              <a:t>الحسابات والأفواج والتلاميذ: نرافقكم عند البداية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095" y="1645920"/>
            <a:ext cx="352044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39135" y="1920240"/>
            <a:ext cx="640080" cy="640080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0E1B40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" y="274320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100" b="1" i="0">
                <a:solidFill>
                  <a:srgbClr val="0E1B40"/>
                </a:solidFill>
                <a:latin typeface="Arial"/>
              </a:rPr>
              <a:t>أنتم تسيّرون ونبقى بجانبكم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" y="347472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B7385"/>
                </a:solidFill>
                <a:latin typeface="Arial"/>
              </a:rPr>
              <a:t>مساعدة مدمجة ودليل ودعم عن بعد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" y="46177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900" b="1" i="0">
                <a:solidFill>
                  <a:srgbClr val="1F3470"/>
                </a:solidFill>
                <a:latin typeface="Arial"/>
              </a:rPr>
              <a:t>الصيغ: شهرية · سنوية · دفعة واحدة — التعريفات عند الطلب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" y="52578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0" i="0">
                <a:solidFill>
                  <a:srgbClr val="1B2233"/>
                </a:solidFill>
                <a:latin typeface="Arial"/>
              </a:rPr>
              <a:t>تجربة مجانية دون التزام: كل الوظائف، ببياناتكم الحقيقية.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B7385"/>
                </a:solidFill>
                <a:latin typeface="Arial"/>
              </a:rPr>
              <a:t>Siraj · سراج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B7385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3135" y="15544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4500" b="1" i="0">
                <a:solidFill>
                  <a:srgbClr val="E8B84A"/>
                </a:solidFill>
                <a:latin typeface="Arial"/>
              </a:rPr>
              <a:t>جرّبوا سراج في مدرستكم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3135" y="28346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300" b="0" i="0">
                <a:solidFill>
                  <a:srgbClr val="FFFFFF"/>
                </a:solidFill>
                <a:latin typeface="Arial"/>
              </a:rPr>
              <a:t>الصفحة الرئيسية وطلب التجربة: rayanem-dev.github.io/da3m-site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" y="3657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100" b="0" i="0">
                <a:solidFill>
                  <a:srgbClr val="CADCFC"/>
                </a:solidFill>
                <a:latin typeface="Arial"/>
              </a:rPr>
              <a:t>رايان رضا مداني — Rayane M.، ناشر سراج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" y="4297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300" b="0" i="0">
                <a:solidFill>
                  <a:srgbClr val="FFFFFF"/>
                </a:solidFill>
                <a:latin typeface="Arial"/>
              </a:rPr>
              <a:t>0670779792  ·  rayanem@gmail.com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" y="5212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300" b="0" i="0">
                <a:solidFill>
                  <a:srgbClr val="E8B84A"/>
                </a:solidFill>
                <a:latin typeface="Arial"/>
              </a:rPr>
              <a:t>سراج — إدارة ذكية وبسيطة لمدارس الدعم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9FB4FF"/>
                </a:solidFill>
                <a:latin typeface="Arial"/>
              </a:rPr>
              <a:t>Siraj · سراج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9FB4FF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